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75" r:id="rId5"/>
    <p:sldId id="259" r:id="rId6"/>
    <p:sldId id="274" r:id="rId7"/>
    <p:sldId id="276" r:id="rId8"/>
    <p:sldId id="277" r:id="rId9"/>
    <p:sldId id="260" r:id="rId10"/>
    <p:sldId id="278" r:id="rId11"/>
    <p:sldId id="279" r:id="rId12"/>
    <p:sldId id="280" r:id="rId13"/>
    <p:sldId id="261" r:id="rId14"/>
    <p:sldId id="271" r:id="rId15"/>
    <p:sldId id="272" r:id="rId16"/>
    <p:sldId id="281" r:id="rId17"/>
  </p:sldIdLst>
  <p:sldSz cx="18288000" cy="10287000"/>
  <p:notesSz cx="6858000" cy="9144000"/>
  <p:embeddedFontLst>
    <p:embeddedFont>
      <p:font typeface="Be Vietnam Ultra-Bold" panose="020B0604020202020204" charset="0"/>
      <p:regular r:id="rId18"/>
    </p:embeddedFont>
    <p:embeddedFont>
      <p:font typeface="Noto Sans" panose="020B0502040504020204" pitchFamily="34" charset="0"/>
      <p:regular r:id="rId19"/>
    </p:embeddedFont>
    <p:embeddedFont>
      <p:font typeface="Open Sans" panose="020B0606030504020204" pitchFamily="34" charset="0"/>
      <p:regular r:id="rId20"/>
    </p:embeddedFont>
    <p:embeddedFont>
      <p:font typeface="Open Sans Bold" panose="020B0604020202020204" charset="0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7191726"/>
            <a:ext cx="4655022" cy="771174"/>
            <a:chOff x="0" y="-28575"/>
            <a:chExt cx="6206697" cy="1028233"/>
          </a:xfrm>
        </p:grpSpPr>
        <p:sp>
          <p:nvSpPr>
            <p:cNvPr id="3" name="TextBox 3"/>
            <p:cNvSpPr txBox="1"/>
            <p:nvPr/>
          </p:nvSpPr>
          <p:spPr>
            <a:xfrm>
              <a:off x="0" y="384104"/>
              <a:ext cx="6206697" cy="61555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39"/>
                </a:lnSpc>
              </a:pPr>
              <a:r>
                <a:rPr lang="en-US" sz="2599" b="1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TS. Nguyễn Bảo Ân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6206697" cy="3333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100"/>
                </a:lnSpc>
              </a:pPr>
              <a:r>
                <a:rPr lang="en-US" sz="1500" spc="75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GIẢNG VIÊN HƯỚNG DẪN: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5881311" y="7124700"/>
            <a:ext cx="7225089" cy="1694504"/>
            <a:chOff x="0" y="-28575"/>
            <a:chExt cx="9633452" cy="2259340"/>
          </a:xfrm>
        </p:grpSpPr>
        <p:sp>
          <p:nvSpPr>
            <p:cNvPr id="6" name="TextBox 6"/>
            <p:cNvSpPr txBox="1"/>
            <p:nvPr/>
          </p:nvSpPr>
          <p:spPr>
            <a:xfrm>
              <a:off x="0" y="384104"/>
              <a:ext cx="9633452" cy="1846661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3639"/>
                </a:lnSpc>
              </a:pPr>
              <a:r>
                <a:rPr lang="en-US" sz="2400" b="1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Huỳnh Chí Đạt, MSSV: 110123086</a:t>
              </a:r>
            </a:p>
            <a:p>
              <a:pPr algn="l">
                <a:lnSpc>
                  <a:spcPts val="3639"/>
                </a:lnSpc>
              </a:pPr>
              <a:r>
                <a:rPr lang="en-US" sz="2400" b="1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Huỳnh Phan Vân Anh, MSSV: 110123065</a:t>
              </a:r>
            </a:p>
            <a:p>
              <a:pPr marL="0" lvl="0" indent="0" algn="l">
                <a:lnSpc>
                  <a:spcPts val="3639"/>
                </a:lnSpc>
              </a:pPr>
              <a:r>
                <a:rPr lang="en-US" sz="2400" b="1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Thạch Nguyễn Quế Anh, MSSV: 110123068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28575"/>
              <a:ext cx="8700505" cy="3333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100"/>
                </a:lnSpc>
                <a:spcBef>
                  <a:spcPct val="0"/>
                </a:spcBef>
              </a:pPr>
              <a:r>
                <a:rPr lang="en-US" sz="1500" spc="75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SINH VIÊN THỰC HIỆN:</a:t>
              </a:r>
            </a:p>
          </p:txBody>
        </p:sp>
      </p:grpSp>
      <p:sp>
        <p:nvSpPr>
          <p:cNvPr id="8" name="Freeform 8"/>
          <p:cNvSpPr/>
          <p:nvPr/>
        </p:nvSpPr>
        <p:spPr>
          <a:xfrm>
            <a:off x="8913253" y="2963300"/>
            <a:ext cx="9374747" cy="12269388"/>
          </a:xfrm>
          <a:custGeom>
            <a:avLst/>
            <a:gdLst/>
            <a:ahLst/>
            <a:cxnLst/>
            <a:rect l="l" t="t" r="r" b="b"/>
            <a:pathLst>
              <a:path w="9374747" h="12269388">
                <a:moveTo>
                  <a:pt x="0" y="0"/>
                </a:moveTo>
                <a:lnTo>
                  <a:pt x="9374747" y="0"/>
                </a:lnTo>
                <a:lnTo>
                  <a:pt x="9374747" y="12269388"/>
                </a:lnTo>
                <a:lnTo>
                  <a:pt x="0" y="1226938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r="-30877"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7961436" y="1425231"/>
            <a:ext cx="1903635" cy="1903635"/>
          </a:xfrm>
          <a:custGeom>
            <a:avLst/>
            <a:gdLst/>
            <a:ahLst/>
            <a:cxnLst/>
            <a:rect l="l" t="t" r="r" b="b"/>
            <a:pathLst>
              <a:path w="1903635" h="1903635">
                <a:moveTo>
                  <a:pt x="0" y="0"/>
                </a:moveTo>
                <a:lnTo>
                  <a:pt x="1903634" y="0"/>
                </a:lnTo>
                <a:lnTo>
                  <a:pt x="1903634" y="1903635"/>
                </a:lnTo>
                <a:lnTo>
                  <a:pt x="0" y="190363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3430029" y="3848100"/>
            <a:ext cx="11427941" cy="36167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6001" b="1">
                <a:solidFill>
                  <a:srgbClr val="4A44BD"/>
                </a:solidFill>
                <a:latin typeface="Be Vietnam Ultra-Bold"/>
                <a:ea typeface="Be Vietnam Ultra-Bold"/>
                <a:cs typeface="Be Vietnam Ultra-Bold"/>
              </a:rPr>
              <a:t>XÂY DỰNG WEBSITE QUẢN LÝ VÀ ĐĂNG TIN TUYỂN DỤNG</a:t>
            </a:r>
          </a:p>
          <a:p>
            <a:pPr marL="0" lvl="0" indent="0" algn="ctr">
              <a:lnSpc>
                <a:spcPts val="6601"/>
              </a:lnSpc>
            </a:pPr>
            <a:endParaRPr lang="en-US" sz="6001" b="1">
              <a:solidFill>
                <a:srgbClr val="4A44BD"/>
              </a:solidFill>
              <a:latin typeface="Be Vietnam Ultra-Bold"/>
              <a:ea typeface="Be Vietnam Ultra-Bold"/>
              <a:cs typeface="Be Vietnam Ultra-Bold"/>
              <a:sym typeface="Be Vietnam Ultra-Bold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6518417" y="334807"/>
            <a:ext cx="5251166" cy="850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19"/>
              </a:lnSpc>
            </a:pPr>
            <a:r>
              <a:rPr lang="en-US" sz="2199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TRƯỜNG KỸ THUẬT VÀ CÔNG NGHỆ</a:t>
            </a:r>
          </a:p>
          <a:p>
            <a:pPr marL="0" lvl="0" indent="0" algn="ctr">
              <a:lnSpc>
                <a:spcPts val="3519"/>
              </a:lnSpc>
              <a:spcBef>
                <a:spcPct val="0"/>
              </a:spcBef>
            </a:pPr>
            <a:r>
              <a:rPr lang="en-US" sz="2199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KHOA CÔNG NGHỆ THÔNG TIN</a:t>
            </a:r>
          </a:p>
        </p:txBody>
      </p:sp>
      <p:sp>
        <p:nvSpPr>
          <p:cNvPr id="12" name="Freeform 12"/>
          <p:cNvSpPr/>
          <p:nvPr/>
        </p:nvSpPr>
        <p:spPr>
          <a:xfrm>
            <a:off x="159942" y="9547355"/>
            <a:ext cx="17968116" cy="573730"/>
          </a:xfrm>
          <a:custGeom>
            <a:avLst/>
            <a:gdLst/>
            <a:ahLst/>
            <a:cxnLst/>
            <a:rect l="l" t="t" r="r" b="b"/>
            <a:pathLst>
              <a:path w="17968116" h="573730">
                <a:moveTo>
                  <a:pt x="0" y="0"/>
                </a:moveTo>
                <a:lnTo>
                  <a:pt x="17968116" y="0"/>
                </a:lnTo>
                <a:lnTo>
                  <a:pt x="17968116" y="573730"/>
                </a:lnTo>
                <a:lnTo>
                  <a:pt x="0" y="5737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5170" t="-31148" r="-1846" b="-15442"/>
            </a:stretch>
          </a:blipFill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1104900"/>
            <a:ext cx="9146877" cy="1212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349"/>
              </a:lnSpc>
            </a:pPr>
            <a:r>
              <a:rPr lang="en-US" sz="8499" b="1" spc="-169">
                <a:solidFill>
                  <a:srgbClr val="4A44BD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Nội dung trình bày</a:t>
            </a:r>
          </a:p>
        </p:txBody>
      </p:sp>
      <p:sp>
        <p:nvSpPr>
          <p:cNvPr id="4" name="Freeform 4"/>
          <p:cNvSpPr/>
          <p:nvPr/>
        </p:nvSpPr>
        <p:spPr>
          <a:xfrm>
            <a:off x="159942" y="9547355"/>
            <a:ext cx="17968116" cy="573730"/>
          </a:xfrm>
          <a:custGeom>
            <a:avLst/>
            <a:gdLst/>
            <a:ahLst/>
            <a:cxnLst/>
            <a:rect l="l" t="t" r="r" b="b"/>
            <a:pathLst>
              <a:path w="17968116" h="573730">
                <a:moveTo>
                  <a:pt x="0" y="0"/>
                </a:moveTo>
                <a:lnTo>
                  <a:pt x="17968116" y="0"/>
                </a:lnTo>
                <a:lnTo>
                  <a:pt x="17968116" y="573730"/>
                </a:lnTo>
                <a:lnTo>
                  <a:pt x="0" y="57373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5170" t="-31148" r="-1846" b="-15442"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17476642" y="9635783"/>
            <a:ext cx="651416" cy="3492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4A44BD"/>
                </a:solidFill>
                <a:latin typeface="Noto Sans"/>
                <a:ea typeface="Noto Sans"/>
                <a:cs typeface="Noto Sans"/>
                <a:sym typeface="Noto Sans"/>
              </a:rPr>
              <a:t>01</a:t>
            </a:r>
          </a:p>
        </p:txBody>
      </p:sp>
      <p:sp>
        <p:nvSpPr>
          <p:cNvPr id="13" name="Subtitle 12"/>
          <p:cNvSpPr>
            <a:spLocks noGrp="1"/>
          </p:cNvSpPr>
          <p:nvPr>
            <p:ph type="subTitle" idx="1"/>
          </p:nvPr>
        </p:nvSpPr>
        <p:spPr>
          <a:xfrm>
            <a:off x="1008105" y="2019300"/>
            <a:ext cx="11430000" cy="1752600"/>
          </a:xfrm>
        </p:spPr>
        <p:txBody>
          <a:bodyPr>
            <a:normAutofit fontScale="25000" lnSpcReduction="20000"/>
          </a:bodyPr>
          <a:lstStyle/>
          <a:p>
            <a:pPr algn="l" fontAlgn="ctr">
              <a:lnSpc>
                <a:spcPct val="170000"/>
              </a:lnSpc>
              <a:buFont typeface="+mj-lt"/>
              <a:buAutoNum type="arabicPeriod"/>
            </a:pPr>
            <a:r>
              <a:rPr lang="en-US" sz="19200" b="1" spc="-169">
                <a:solidFill>
                  <a:srgbClr val="4A44BD"/>
                </a:solidFill>
                <a:latin typeface="+mj-lt"/>
                <a:ea typeface="Be Vietnam Ultra-Bold"/>
                <a:cs typeface="Be Vietnam Ultra-Bold"/>
              </a:rPr>
              <a:t>Giới thiệu đề tài</a:t>
            </a:r>
          </a:p>
          <a:p>
            <a:pPr algn="l" fontAlgn="ctr">
              <a:lnSpc>
                <a:spcPct val="170000"/>
              </a:lnSpc>
              <a:buFont typeface="+mj-lt"/>
              <a:buAutoNum type="arabicPeriod"/>
            </a:pPr>
            <a:r>
              <a:rPr lang="en-US" sz="19200" b="1" spc="-169">
                <a:solidFill>
                  <a:srgbClr val="4A44BD"/>
                </a:solidFill>
                <a:latin typeface="+mj-lt"/>
                <a:ea typeface="Be Vietnam Ultra-Bold"/>
                <a:cs typeface="Be Vietnam Ultra-Bold"/>
              </a:rPr>
              <a:t>Kế hoạch Scrum &amp; các Sprint</a:t>
            </a:r>
          </a:p>
          <a:p>
            <a:pPr algn="l" fontAlgn="ctr">
              <a:lnSpc>
                <a:spcPct val="170000"/>
              </a:lnSpc>
              <a:buFont typeface="+mj-lt"/>
              <a:buAutoNum type="arabicPeriod"/>
            </a:pPr>
            <a:r>
              <a:rPr lang="en-US" sz="19200" b="1" spc="-169">
                <a:solidFill>
                  <a:srgbClr val="4A44BD"/>
                </a:solidFill>
                <a:latin typeface="+mj-lt"/>
                <a:ea typeface="Be Vietnam Ultra-Bold"/>
                <a:cs typeface="Be Vietnam Ultra-Bold"/>
              </a:rPr>
              <a:t>Phân tích yêu cầu hệ thống</a:t>
            </a:r>
          </a:p>
          <a:p>
            <a:pPr algn="l" fontAlgn="ctr">
              <a:lnSpc>
                <a:spcPct val="170000"/>
              </a:lnSpc>
              <a:buFont typeface="+mj-lt"/>
              <a:buAutoNum type="arabicPeriod"/>
            </a:pPr>
            <a:r>
              <a:rPr lang="en-US" sz="19200" b="1" spc="-169">
                <a:solidFill>
                  <a:srgbClr val="4A44BD"/>
                </a:solidFill>
                <a:latin typeface="+mj-lt"/>
                <a:ea typeface="Be Vietnam Ultra-Bold"/>
                <a:cs typeface="Be Vietnam Ultra-Bold"/>
              </a:rPr>
              <a:t>Thiết kế &amp; Kiến trúc hệ thống</a:t>
            </a:r>
          </a:p>
          <a:p>
            <a:pPr algn="l" fontAlgn="ctr">
              <a:lnSpc>
                <a:spcPct val="170000"/>
              </a:lnSpc>
              <a:buFont typeface="+mj-lt"/>
              <a:buAutoNum type="arabicPeriod"/>
            </a:pPr>
            <a:r>
              <a:rPr lang="en-US" sz="19200" b="1" spc="-169">
                <a:solidFill>
                  <a:srgbClr val="4A44BD"/>
                </a:solidFill>
                <a:latin typeface="+mj-lt"/>
                <a:ea typeface="Be Vietnam Ultra-Bold"/>
                <a:cs typeface="Be Vietnam Ultra-Bold"/>
              </a:rPr>
              <a:t>Hiện thực hóa &amp; giao diện ứng dụng</a:t>
            </a:r>
          </a:p>
          <a:p>
            <a:pPr algn="l" fontAlgn="ctr">
              <a:lnSpc>
                <a:spcPct val="170000"/>
              </a:lnSpc>
              <a:buFont typeface="+mj-lt"/>
              <a:buAutoNum type="arabicPeriod"/>
            </a:pPr>
            <a:r>
              <a:rPr lang="en-US" sz="19200" b="1" spc="-169">
                <a:solidFill>
                  <a:srgbClr val="4A44BD"/>
                </a:solidFill>
                <a:latin typeface="+mj-lt"/>
                <a:ea typeface="Be Vietnam Ultra-Bold"/>
                <a:cs typeface="Be Vietnam Ultra-Bold"/>
              </a:rPr>
              <a:t>Kết luận &amp; Hướng phát triển</a:t>
            </a:r>
          </a:p>
          <a:p>
            <a:pPr>
              <a:lnSpc>
                <a:spcPct val="170000"/>
              </a:lnSpc>
            </a:pPr>
            <a:endParaRPr lang="en-US">
              <a:latin typeface="+mj-l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59942" y="9547355"/>
            <a:ext cx="17968116" cy="573730"/>
          </a:xfrm>
          <a:custGeom>
            <a:avLst/>
            <a:gdLst/>
            <a:ahLst/>
            <a:cxnLst/>
            <a:rect l="l" t="t" r="r" b="b"/>
            <a:pathLst>
              <a:path w="17968116" h="573730">
                <a:moveTo>
                  <a:pt x="0" y="0"/>
                </a:moveTo>
                <a:lnTo>
                  <a:pt x="17968116" y="0"/>
                </a:lnTo>
                <a:lnTo>
                  <a:pt x="17968116" y="573730"/>
                </a:lnTo>
                <a:lnTo>
                  <a:pt x="0" y="57373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5170" t="-31148" r="-1846" b="-15442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028700" y="2273089"/>
            <a:ext cx="7734300" cy="6985211"/>
            <a:chOff x="0" y="0"/>
            <a:chExt cx="1960631" cy="183972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960631" cy="1839726"/>
            </a:xfrm>
            <a:custGeom>
              <a:avLst/>
              <a:gdLst/>
              <a:ahLst/>
              <a:cxnLst/>
              <a:rect l="l" t="t" r="r" b="b"/>
              <a:pathLst>
                <a:path w="1960631" h="1839726">
                  <a:moveTo>
                    <a:pt x="53039" y="0"/>
                  </a:moveTo>
                  <a:lnTo>
                    <a:pt x="1907592" y="0"/>
                  </a:lnTo>
                  <a:cubicBezTo>
                    <a:pt x="1936884" y="0"/>
                    <a:pt x="1960631" y="23746"/>
                    <a:pt x="1960631" y="53039"/>
                  </a:cubicBezTo>
                  <a:lnTo>
                    <a:pt x="1960631" y="1786687"/>
                  </a:lnTo>
                  <a:cubicBezTo>
                    <a:pt x="1960631" y="1815980"/>
                    <a:pt x="1936884" y="1839726"/>
                    <a:pt x="1907592" y="1839726"/>
                  </a:cubicBezTo>
                  <a:lnTo>
                    <a:pt x="53039" y="1839726"/>
                  </a:lnTo>
                  <a:cubicBezTo>
                    <a:pt x="38972" y="1839726"/>
                    <a:pt x="25482" y="1834138"/>
                    <a:pt x="15535" y="1824192"/>
                  </a:cubicBezTo>
                  <a:cubicBezTo>
                    <a:pt x="5588" y="1814245"/>
                    <a:pt x="0" y="1800754"/>
                    <a:pt x="0" y="1786687"/>
                  </a:cubicBezTo>
                  <a:lnTo>
                    <a:pt x="0" y="53039"/>
                  </a:lnTo>
                  <a:cubicBezTo>
                    <a:pt x="0" y="23746"/>
                    <a:pt x="23746" y="0"/>
                    <a:pt x="53039" y="0"/>
                  </a:cubicBezTo>
                  <a:close/>
                </a:path>
              </a:pathLst>
            </a:custGeom>
            <a:ln w="38100" cap="rnd">
              <a:solidFill>
                <a:srgbClr val="4A44BD"/>
              </a:solidFill>
              <a:prstDash val="solid"/>
              <a:round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1960631" cy="188735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537934" y="603451"/>
            <a:ext cx="13330466" cy="119263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917573" lvl="1" algn="l">
              <a:lnSpc>
                <a:spcPts val="9349"/>
              </a:lnSpc>
            </a:pPr>
            <a:r>
              <a:rPr lang="en-US" sz="8499" b="1" spc="-169">
                <a:solidFill>
                  <a:srgbClr val="4A44BD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1. Giới thiệu đề tài (1/2)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9296400" y="2273089"/>
            <a:ext cx="8178048" cy="6985211"/>
            <a:chOff x="0" y="0"/>
            <a:chExt cx="2042203" cy="1839726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042202" cy="1839726"/>
            </a:xfrm>
            <a:custGeom>
              <a:avLst/>
              <a:gdLst/>
              <a:ahLst/>
              <a:cxnLst/>
              <a:rect l="l" t="t" r="r" b="b"/>
              <a:pathLst>
                <a:path w="2042202" h="1839726">
                  <a:moveTo>
                    <a:pt x="50921" y="0"/>
                  </a:moveTo>
                  <a:lnTo>
                    <a:pt x="1991282" y="0"/>
                  </a:lnTo>
                  <a:cubicBezTo>
                    <a:pt x="2004787" y="0"/>
                    <a:pt x="2017739" y="5365"/>
                    <a:pt x="2027288" y="14914"/>
                  </a:cubicBezTo>
                  <a:cubicBezTo>
                    <a:pt x="2036838" y="24464"/>
                    <a:pt x="2042202" y="37416"/>
                    <a:pt x="2042202" y="50921"/>
                  </a:cubicBezTo>
                  <a:lnTo>
                    <a:pt x="2042202" y="1788806"/>
                  </a:lnTo>
                  <a:cubicBezTo>
                    <a:pt x="2042202" y="1802311"/>
                    <a:pt x="2036838" y="1815263"/>
                    <a:pt x="2027288" y="1824812"/>
                  </a:cubicBezTo>
                  <a:cubicBezTo>
                    <a:pt x="2017739" y="1834362"/>
                    <a:pt x="2004787" y="1839726"/>
                    <a:pt x="1991282" y="1839726"/>
                  </a:cubicBezTo>
                  <a:lnTo>
                    <a:pt x="50921" y="1839726"/>
                  </a:lnTo>
                  <a:cubicBezTo>
                    <a:pt x="37416" y="1839726"/>
                    <a:pt x="24464" y="1834362"/>
                    <a:pt x="14914" y="1824812"/>
                  </a:cubicBezTo>
                  <a:cubicBezTo>
                    <a:pt x="5365" y="1815263"/>
                    <a:pt x="0" y="1802311"/>
                    <a:pt x="0" y="1788806"/>
                  </a:cubicBezTo>
                  <a:lnTo>
                    <a:pt x="0" y="50921"/>
                  </a:lnTo>
                  <a:cubicBezTo>
                    <a:pt x="0" y="37416"/>
                    <a:pt x="5365" y="24464"/>
                    <a:pt x="14914" y="14914"/>
                  </a:cubicBezTo>
                  <a:cubicBezTo>
                    <a:pt x="24464" y="5365"/>
                    <a:pt x="37416" y="0"/>
                    <a:pt x="50921" y="0"/>
                  </a:cubicBezTo>
                  <a:close/>
                </a:path>
              </a:pathLst>
            </a:custGeom>
            <a:ln w="38100" cap="rnd">
              <a:solidFill>
                <a:srgbClr val="4A44BD"/>
              </a:solidFill>
              <a:prstDash val="solid"/>
              <a:round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0" y="-47625"/>
              <a:ext cx="2042203" cy="188735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1297825" y="2491243"/>
            <a:ext cx="6906020" cy="5829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59"/>
              </a:lnSpc>
              <a:spcBef>
                <a:spcPct val="0"/>
              </a:spcBef>
            </a:pPr>
            <a:r>
              <a:rPr lang="en-US" sz="3999" b="1" spc="-79">
                <a:solidFill>
                  <a:srgbClr val="4A44BD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Lý do chọn đề tài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2538412" y="3157538"/>
            <a:ext cx="4390072" cy="206692"/>
            <a:chOff x="0" y="0"/>
            <a:chExt cx="5853430" cy="275590"/>
          </a:xfrm>
        </p:grpSpPr>
        <p:sp>
          <p:nvSpPr>
            <p:cNvPr id="12" name="Freeform 12"/>
            <p:cNvSpPr/>
            <p:nvPr/>
          </p:nvSpPr>
          <p:spPr>
            <a:xfrm>
              <a:off x="50703" y="31453"/>
              <a:ext cx="5751298" cy="212685"/>
            </a:xfrm>
            <a:custGeom>
              <a:avLst/>
              <a:gdLst/>
              <a:ahLst/>
              <a:cxnLst/>
              <a:rect l="l" t="t" r="r" b="b"/>
              <a:pathLst>
                <a:path w="5751298" h="212685">
                  <a:moveTo>
                    <a:pt x="72487" y="33317"/>
                  </a:moveTo>
                  <a:cubicBezTo>
                    <a:pt x="2968087" y="26967"/>
                    <a:pt x="3088737" y="38397"/>
                    <a:pt x="3418937" y="39667"/>
                  </a:cubicBezTo>
                  <a:cubicBezTo>
                    <a:pt x="3976467" y="43477"/>
                    <a:pt x="5439507" y="-35263"/>
                    <a:pt x="5664297" y="19347"/>
                  </a:cubicBezTo>
                  <a:cubicBezTo>
                    <a:pt x="5707477" y="30777"/>
                    <a:pt x="5722717" y="38397"/>
                    <a:pt x="5736687" y="57447"/>
                  </a:cubicBezTo>
                  <a:cubicBezTo>
                    <a:pt x="5749387" y="77767"/>
                    <a:pt x="5753197" y="115867"/>
                    <a:pt x="5744307" y="138727"/>
                  </a:cubicBezTo>
                  <a:cubicBezTo>
                    <a:pt x="5736687" y="160317"/>
                    <a:pt x="5706207" y="185717"/>
                    <a:pt x="5683347" y="190797"/>
                  </a:cubicBezTo>
                  <a:cubicBezTo>
                    <a:pt x="5659217" y="195877"/>
                    <a:pt x="5622387" y="185717"/>
                    <a:pt x="5604607" y="169207"/>
                  </a:cubicBezTo>
                  <a:cubicBezTo>
                    <a:pt x="5588097" y="152697"/>
                    <a:pt x="5575397" y="115867"/>
                    <a:pt x="5579207" y="91737"/>
                  </a:cubicBezTo>
                  <a:cubicBezTo>
                    <a:pt x="5583017" y="68877"/>
                    <a:pt x="5605877" y="38397"/>
                    <a:pt x="5628737" y="28237"/>
                  </a:cubicBezTo>
                  <a:cubicBezTo>
                    <a:pt x="5650327" y="18077"/>
                    <a:pt x="5688427" y="19347"/>
                    <a:pt x="5708747" y="32047"/>
                  </a:cubicBezTo>
                  <a:cubicBezTo>
                    <a:pt x="5729067" y="44747"/>
                    <a:pt x="5748117" y="79037"/>
                    <a:pt x="5750657" y="101897"/>
                  </a:cubicBezTo>
                  <a:cubicBezTo>
                    <a:pt x="5753197" y="119677"/>
                    <a:pt x="5748117" y="139997"/>
                    <a:pt x="5736687" y="155237"/>
                  </a:cubicBezTo>
                  <a:cubicBezTo>
                    <a:pt x="5721447" y="173017"/>
                    <a:pt x="5707477" y="181907"/>
                    <a:pt x="5664297" y="193337"/>
                  </a:cubicBezTo>
                  <a:cubicBezTo>
                    <a:pt x="5439507" y="247947"/>
                    <a:pt x="3976467" y="169207"/>
                    <a:pt x="3418937" y="173017"/>
                  </a:cubicBezTo>
                  <a:cubicBezTo>
                    <a:pt x="3088737" y="174287"/>
                    <a:pt x="2968087" y="184447"/>
                    <a:pt x="2628997" y="188257"/>
                  </a:cubicBezTo>
                  <a:cubicBezTo>
                    <a:pt x="2020667" y="192067"/>
                    <a:pt x="276957" y="217467"/>
                    <a:pt x="72487" y="179367"/>
                  </a:cubicBezTo>
                  <a:cubicBezTo>
                    <a:pt x="43277" y="174287"/>
                    <a:pt x="35657" y="171747"/>
                    <a:pt x="22957" y="160317"/>
                  </a:cubicBezTo>
                  <a:cubicBezTo>
                    <a:pt x="11527" y="150157"/>
                    <a:pt x="97" y="132377"/>
                    <a:pt x="97" y="114597"/>
                  </a:cubicBezTo>
                  <a:cubicBezTo>
                    <a:pt x="-1173" y="95547"/>
                    <a:pt x="10257" y="65067"/>
                    <a:pt x="22957" y="51097"/>
                  </a:cubicBezTo>
                  <a:cubicBezTo>
                    <a:pt x="35657" y="39667"/>
                    <a:pt x="72487" y="33317"/>
                    <a:pt x="72487" y="33317"/>
                  </a:cubicBezTo>
                </a:path>
              </a:pathLst>
            </a:custGeom>
            <a:solidFill>
              <a:srgbClr val="4A44BD"/>
            </a:solidFill>
            <a:ln cap="sq">
              <a:noFill/>
              <a:prstDash val="solid"/>
              <a:miter/>
            </a:ln>
          </p:spPr>
        </p:sp>
      </p:grpSp>
      <p:sp>
        <p:nvSpPr>
          <p:cNvPr id="13" name="TextBox 13"/>
          <p:cNvSpPr txBox="1"/>
          <p:nvPr/>
        </p:nvSpPr>
        <p:spPr>
          <a:xfrm>
            <a:off x="11236205" y="2491243"/>
            <a:ext cx="4722495" cy="5829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59"/>
              </a:lnSpc>
              <a:spcBef>
                <a:spcPct val="0"/>
              </a:spcBef>
            </a:pPr>
            <a:r>
              <a:rPr lang="en-US" sz="3999" b="1" spc="-79">
                <a:solidFill>
                  <a:srgbClr val="4A44BD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Mục tiêu nghiên cứu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11029950" y="3175635"/>
            <a:ext cx="5065395" cy="205740"/>
            <a:chOff x="0" y="0"/>
            <a:chExt cx="6753860" cy="274320"/>
          </a:xfrm>
        </p:grpSpPr>
        <p:sp>
          <p:nvSpPr>
            <p:cNvPr id="15" name="Freeform 15"/>
            <p:cNvSpPr/>
            <p:nvPr/>
          </p:nvSpPr>
          <p:spPr>
            <a:xfrm>
              <a:off x="50712" y="15560"/>
              <a:ext cx="6652904" cy="243199"/>
            </a:xfrm>
            <a:custGeom>
              <a:avLst/>
              <a:gdLst/>
              <a:ahLst/>
              <a:cxnLst/>
              <a:rect l="l" t="t" r="r" b="b"/>
              <a:pathLst>
                <a:path w="6652904" h="243199">
                  <a:moveTo>
                    <a:pt x="76288" y="44130"/>
                  </a:moveTo>
                  <a:cubicBezTo>
                    <a:pt x="1135468" y="42860"/>
                    <a:pt x="1399628" y="56830"/>
                    <a:pt x="1640928" y="56830"/>
                  </a:cubicBezTo>
                  <a:cubicBezTo>
                    <a:pt x="1856828" y="56830"/>
                    <a:pt x="1958428" y="47940"/>
                    <a:pt x="2256878" y="44130"/>
                  </a:cubicBezTo>
                  <a:cubicBezTo>
                    <a:pt x="3044278" y="35240"/>
                    <a:pt x="6239598" y="-44770"/>
                    <a:pt x="6565988" y="35240"/>
                  </a:cubicBezTo>
                  <a:cubicBezTo>
                    <a:pt x="6610438" y="46670"/>
                    <a:pt x="6624408" y="53020"/>
                    <a:pt x="6637108" y="73340"/>
                  </a:cubicBezTo>
                  <a:cubicBezTo>
                    <a:pt x="6651078" y="92390"/>
                    <a:pt x="6654888" y="131760"/>
                    <a:pt x="6645998" y="153350"/>
                  </a:cubicBezTo>
                  <a:cubicBezTo>
                    <a:pt x="6637108" y="176210"/>
                    <a:pt x="6607898" y="200340"/>
                    <a:pt x="6585038" y="205420"/>
                  </a:cubicBezTo>
                  <a:cubicBezTo>
                    <a:pt x="6560908" y="210500"/>
                    <a:pt x="6524078" y="200340"/>
                    <a:pt x="6506298" y="183830"/>
                  </a:cubicBezTo>
                  <a:cubicBezTo>
                    <a:pt x="6489788" y="167320"/>
                    <a:pt x="6477088" y="131760"/>
                    <a:pt x="6480898" y="107630"/>
                  </a:cubicBezTo>
                  <a:cubicBezTo>
                    <a:pt x="6484708" y="84770"/>
                    <a:pt x="6507568" y="53020"/>
                    <a:pt x="6529158" y="42860"/>
                  </a:cubicBezTo>
                  <a:cubicBezTo>
                    <a:pt x="6550748" y="33970"/>
                    <a:pt x="6590118" y="35240"/>
                    <a:pt x="6610438" y="47940"/>
                  </a:cubicBezTo>
                  <a:cubicBezTo>
                    <a:pt x="6630758" y="60640"/>
                    <a:pt x="6648538" y="94930"/>
                    <a:pt x="6652348" y="116520"/>
                  </a:cubicBezTo>
                  <a:cubicBezTo>
                    <a:pt x="6654888" y="135570"/>
                    <a:pt x="6648538" y="155890"/>
                    <a:pt x="6637108" y="169860"/>
                  </a:cubicBezTo>
                  <a:cubicBezTo>
                    <a:pt x="6623138" y="187640"/>
                    <a:pt x="6610438" y="196530"/>
                    <a:pt x="6565988" y="207960"/>
                  </a:cubicBezTo>
                  <a:cubicBezTo>
                    <a:pt x="6239598" y="287970"/>
                    <a:pt x="3044278" y="207960"/>
                    <a:pt x="2256878" y="199070"/>
                  </a:cubicBezTo>
                  <a:cubicBezTo>
                    <a:pt x="1958428" y="195260"/>
                    <a:pt x="1856828" y="186370"/>
                    <a:pt x="1640928" y="186370"/>
                  </a:cubicBezTo>
                  <a:cubicBezTo>
                    <a:pt x="1399628" y="186370"/>
                    <a:pt x="1135468" y="200340"/>
                    <a:pt x="878928" y="202880"/>
                  </a:cubicBezTo>
                  <a:cubicBezTo>
                    <a:pt x="614768" y="205420"/>
                    <a:pt x="184238" y="219390"/>
                    <a:pt x="76288" y="199070"/>
                  </a:cubicBezTo>
                  <a:cubicBezTo>
                    <a:pt x="48348" y="193990"/>
                    <a:pt x="38188" y="191450"/>
                    <a:pt x="25488" y="180020"/>
                  </a:cubicBezTo>
                  <a:cubicBezTo>
                    <a:pt x="12788" y="168590"/>
                    <a:pt x="1358" y="148270"/>
                    <a:pt x="88" y="130490"/>
                  </a:cubicBezTo>
                  <a:cubicBezTo>
                    <a:pt x="-1182" y="110170"/>
                    <a:pt x="11518" y="78420"/>
                    <a:pt x="25488" y="64450"/>
                  </a:cubicBezTo>
                  <a:cubicBezTo>
                    <a:pt x="38188" y="51750"/>
                    <a:pt x="76288" y="44130"/>
                    <a:pt x="76288" y="44130"/>
                  </a:cubicBezTo>
                </a:path>
              </a:pathLst>
            </a:custGeom>
            <a:solidFill>
              <a:srgbClr val="4A44BD"/>
            </a:solidFill>
            <a:ln cap="sq">
              <a:noFill/>
              <a:prstDash val="solid"/>
              <a:miter/>
            </a:ln>
          </p:spPr>
        </p:sp>
      </p:grpSp>
      <p:sp>
        <p:nvSpPr>
          <p:cNvPr id="16" name="TextBox 16"/>
          <p:cNvSpPr txBox="1"/>
          <p:nvPr/>
        </p:nvSpPr>
        <p:spPr>
          <a:xfrm>
            <a:off x="1372596" y="3988117"/>
            <a:ext cx="7009403" cy="443198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3200" b="1">
                <a:solidFill>
                  <a:srgbClr val="000000"/>
                </a:solidFill>
                <a:latin typeface="+mj-lt"/>
                <a:ea typeface="Open Sans Bold"/>
                <a:cs typeface="Open Sans Bold"/>
                <a:sym typeface="Open Sans Bold"/>
              </a:rPr>
              <a:t>Nhu cầu tuyển dụng nhân sự và tìm kiếm việc làm tăng mạnh.</a:t>
            </a:r>
          </a:p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3200" b="1">
                <a:solidFill>
                  <a:srgbClr val="000000"/>
                </a:solidFill>
                <a:latin typeface="+mj-lt"/>
                <a:ea typeface="Open Sans Bold"/>
                <a:cs typeface="Open Sans Bold"/>
                <a:sym typeface="Open Sans Bold"/>
              </a:rPr>
              <a:t>Phương thức truyền thống tốn kém và chậm trễ.</a:t>
            </a:r>
          </a:p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3200" b="1">
                <a:solidFill>
                  <a:srgbClr val="000000"/>
                </a:solidFill>
                <a:latin typeface="+mj-lt"/>
                <a:ea typeface="Open Sans Bold"/>
                <a:cs typeface="Open Sans Bold"/>
                <a:sym typeface="Open Sans Bold"/>
              </a:rPr>
              <a:t>Website giúp kết nối nhanh chóng và hiệu quả.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9525000" y="3706654"/>
            <a:ext cx="7696200" cy="51706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3200" b="1">
                <a:solidFill>
                  <a:srgbClr val="000000"/>
                </a:solidFill>
                <a:latin typeface="+mj-lt"/>
                <a:ea typeface="Open Sans Bold"/>
                <a:cs typeface="Open Sans Bold"/>
                <a:sym typeface="Open Sans Bold"/>
              </a:rPr>
              <a:t>Xây dựng website quản lý và đăng tin tuyển dụng.</a:t>
            </a:r>
          </a:p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3200" b="1">
                <a:solidFill>
                  <a:srgbClr val="000000"/>
                </a:solidFill>
                <a:latin typeface="+mj-lt"/>
                <a:ea typeface="Open Sans Bold"/>
                <a:cs typeface="Open Sans Bold"/>
                <a:sym typeface="Open Sans Bold"/>
              </a:rPr>
              <a:t>Hỗ trợ doanh nghiệp đăng tin và quản lý.</a:t>
            </a:r>
          </a:p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3200" b="1">
                <a:solidFill>
                  <a:srgbClr val="000000"/>
                </a:solidFill>
                <a:latin typeface="+mj-lt"/>
                <a:ea typeface="Open Sans Bold"/>
                <a:cs typeface="Open Sans Bold"/>
                <a:sym typeface="Open Sans Bold"/>
              </a:rPr>
              <a:t>Hỗ trợ ứng viên tìm việc và nộp CV.</a:t>
            </a:r>
          </a:p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3200" b="1">
                <a:solidFill>
                  <a:srgbClr val="000000"/>
                </a:solidFill>
                <a:latin typeface="+mj-lt"/>
                <a:ea typeface="Open Sans Bold"/>
                <a:cs typeface="Open Sans Bold"/>
                <a:sym typeface="Open Sans Bold"/>
              </a:rPr>
              <a:t>Đối tượng: Ứng viên, Nhà tuyển dụng và Admin.</a:t>
            </a:r>
          </a:p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3200" b="1">
                <a:solidFill>
                  <a:srgbClr val="000000"/>
                </a:solidFill>
                <a:latin typeface="+mj-lt"/>
                <a:ea typeface="Open Sans Bold"/>
                <a:cs typeface="Open Sans Bold"/>
                <a:sym typeface="Open Sans Bold"/>
              </a:rPr>
              <a:t>Phạm vi: Tối ưu kiến trúc và kiểm thử.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7476642" y="9635783"/>
            <a:ext cx="651416" cy="3492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4A44BD"/>
                </a:solidFill>
                <a:latin typeface="Noto Sans"/>
                <a:ea typeface="Noto Sans"/>
                <a:cs typeface="Noto Sans"/>
                <a:sym typeface="Noto Sans"/>
              </a:rPr>
              <a:t>02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59942" y="9547355"/>
            <a:ext cx="17968116" cy="573730"/>
          </a:xfrm>
          <a:custGeom>
            <a:avLst/>
            <a:gdLst/>
            <a:ahLst/>
            <a:cxnLst/>
            <a:rect l="l" t="t" r="r" b="b"/>
            <a:pathLst>
              <a:path w="17968116" h="573730">
                <a:moveTo>
                  <a:pt x="0" y="0"/>
                </a:moveTo>
                <a:lnTo>
                  <a:pt x="17968116" y="0"/>
                </a:lnTo>
                <a:lnTo>
                  <a:pt x="17968116" y="573730"/>
                </a:lnTo>
                <a:lnTo>
                  <a:pt x="0" y="57373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5170" t="-31148" r="-1846" b="-15442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3257918" y="2179114"/>
            <a:ext cx="10294353" cy="6985211"/>
            <a:chOff x="0" y="0"/>
            <a:chExt cx="1960631" cy="183972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960631" cy="1839726"/>
            </a:xfrm>
            <a:custGeom>
              <a:avLst/>
              <a:gdLst/>
              <a:ahLst/>
              <a:cxnLst/>
              <a:rect l="l" t="t" r="r" b="b"/>
              <a:pathLst>
                <a:path w="1960631" h="1839726">
                  <a:moveTo>
                    <a:pt x="53039" y="0"/>
                  </a:moveTo>
                  <a:lnTo>
                    <a:pt x="1907592" y="0"/>
                  </a:lnTo>
                  <a:cubicBezTo>
                    <a:pt x="1936884" y="0"/>
                    <a:pt x="1960631" y="23746"/>
                    <a:pt x="1960631" y="53039"/>
                  </a:cubicBezTo>
                  <a:lnTo>
                    <a:pt x="1960631" y="1786687"/>
                  </a:lnTo>
                  <a:cubicBezTo>
                    <a:pt x="1960631" y="1815980"/>
                    <a:pt x="1936884" y="1839726"/>
                    <a:pt x="1907592" y="1839726"/>
                  </a:cubicBezTo>
                  <a:lnTo>
                    <a:pt x="53039" y="1839726"/>
                  </a:lnTo>
                  <a:cubicBezTo>
                    <a:pt x="38972" y="1839726"/>
                    <a:pt x="25482" y="1834138"/>
                    <a:pt x="15535" y="1824192"/>
                  </a:cubicBezTo>
                  <a:cubicBezTo>
                    <a:pt x="5588" y="1814245"/>
                    <a:pt x="0" y="1800754"/>
                    <a:pt x="0" y="1786687"/>
                  </a:cubicBezTo>
                  <a:lnTo>
                    <a:pt x="0" y="53039"/>
                  </a:lnTo>
                  <a:cubicBezTo>
                    <a:pt x="0" y="23746"/>
                    <a:pt x="23746" y="0"/>
                    <a:pt x="53039" y="0"/>
                  </a:cubicBezTo>
                  <a:close/>
                </a:path>
              </a:pathLst>
            </a:custGeom>
            <a:ln w="38100" cap="rnd">
              <a:solidFill>
                <a:srgbClr val="4A44BD"/>
              </a:solidFill>
              <a:prstDash val="solid"/>
              <a:round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1960631" cy="188735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537934" y="603451"/>
            <a:ext cx="13330466" cy="119263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917573" lvl="1" algn="l">
              <a:lnSpc>
                <a:spcPts val="9349"/>
              </a:lnSpc>
            </a:pPr>
            <a:r>
              <a:rPr lang="en-US" sz="8499" b="1" spc="-169">
                <a:solidFill>
                  <a:srgbClr val="4A44BD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2. Giới thiệu đề tài (2/2)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3649133" y="2397268"/>
            <a:ext cx="9191912" cy="589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59"/>
              </a:lnSpc>
              <a:spcBef>
                <a:spcPct val="0"/>
              </a:spcBef>
            </a:pPr>
            <a:r>
              <a:rPr lang="en-US" sz="3999" b="1" spc="-79">
                <a:solidFill>
                  <a:srgbClr val="4A44BD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Phương pháp nghiên cứu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5306109" y="3063563"/>
            <a:ext cx="5843186" cy="206692"/>
            <a:chOff x="0" y="0"/>
            <a:chExt cx="5853430" cy="275590"/>
          </a:xfrm>
        </p:grpSpPr>
        <p:sp>
          <p:nvSpPr>
            <p:cNvPr id="12" name="Freeform 12"/>
            <p:cNvSpPr/>
            <p:nvPr/>
          </p:nvSpPr>
          <p:spPr>
            <a:xfrm>
              <a:off x="50703" y="31453"/>
              <a:ext cx="5751298" cy="212685"/>
            </a:xfrm>
            <a:custGeom>
              <a:avLst/>
              <a:gdLst/>
              <a:ahLst/>
              <a:cxnLst/>
              <a:rect l="l" t="t" r="r" b="b"/>
              <a:pathLst>
                <a:path w="5751298" h="212685">
                  <a:moveTo>
                    <a:pt x="72487" y="33317"/>
                  </a:moveTo>
                  <a:cubicBezTo>
                    <a:pt x="2968087" y="26967"/>
                    <a:pt x="3088737" y="38397"/>
                    <a:pt x="3418937" y="39667"/>
                  </a:cubicBezTo>
                  <a:cubicBezTo>
                    <a:pt x="3976467" y="43477"/>
                    <a:pt x="5439507" y="-35263"/>
                    <a:pt x="5664297" y="19347"/>
                  </a:cubicBezTo>
                  <a:cubicBezTo>
                    <a:pt x="5707477" y="30777"/>
                    <a:pt x="5722717" y="38397"/>
                    <a:pt x="5736687" y="57447"/>
                  </a:cubicBezTo>
                  <a:cubicBezTo>
                    <a:pt x="5749387" y="77767"/>
                    <a:pt x="5753197" y="115867"/>
                    <a:pt x="5744307" y="138727"/>
                  </a:cubicBezTo>
                  <a:cubicBezTo>
                    <a:pt x="5736687" y="160317"/>
                    <a:pt x="5706207" y="185717"/>
                    <a:pt x="5683347" y="190797"/>
                  </a:cubicBezTo>
                  <a:cubicBezTo>
                    <a:pt x="5659217" y="195877"/>
                    <a:pt x="5622387" y="185717"/>
                    <a:pt x="5604607" y="169207"/>
                  </a:cubicBezTo>
                  <a:cubicBezTo>
                    <a:pt x="5588097" y="152697"/>
                    <a:pt x="5575397" y="115867"/>
                    <a:pt x="5579207" y="91737"/>
                  </a:cubicBezTo>
                  <a:cubicBezTo>
                    <a:pt x="5583017" y="68877"/>
                    <a:pt x="5605877" y="38397"/>
                    <a:pt x="5628737" y="28237"/>
                  </a:cubicBezTo>
                  <a:cubicBezTo>
                    <a:pt x="5650327" y="18077"/>
                    <a:pt x="5688427" y="19347"/>
                    <a:pt x="5708747" y="32047"/>
                  </a:cubicBezTo>
                  <a:cubicBezTo>
                    <a:pt x="5729067" y="44747"/>
                    <a:pt x="5748117" y="79037"/>
                    <a:pt x="5750657" y="101897"/>
                  </a:cubicBezTo>
                  <a:cubicBezTo>
                    <a:pt x="5753197" y="119677"/>
                    <a:pt x="5748117" y="139997"/>
                    <a:pt x="5736687" y="155237"/>
                  </a:cubicBezTo>
                  <a:cubicBezTo>
                    <a:pt x="5721447" y="173017"/>
                    <a:pt x="5707477" y="181907"/>
                    <a:pt x="5664297" y="193337"/>
                  </a:cubicBezTo>
                  <a:cubicBezTo>
                    <a:pt x="5439507" y="247947"/>
                    <a:pt x="3976467" y="169207"/>
                    <a:pt x="3418937" y="173017"/>
                  </a:cubicBezTo>
                  <a:cubicBezTo>
                    <a:pt x="3088737" y="174287"/>
                    <a:pt x="2968087" y="184447"/>
                    <a:pt x="2628997" y="188257"/>
                  </a:cubicBezTo>
                  <a:cubicBezTo>
                    <a:pt x="2020667" y="192067"/>
                    <a:pt x="276957" y="217467"/>
                    <a:pt x="72487" y="179367"/>
                  </a:cubicBezTo>
                  <a:cubicBezTo>
                    <a:pt x="43277" y="174287"/>
                    <a:pt x="35657" y="171747"/>
                    <a:pt x="22957" y="160317"/>
                  </a:cubicBezTo>
                  <a:cubicBezTo>
                    <a:pt x="11527" y="150157"/>
                    <a:pt x="97" y="132377"/>
                    <a:pt x="97" y="114597"/>
                  </a:cubicBezTo>
                  <a:cubicBezTo>
                    <a:pt x="-1173" y="95547"/>
                    <a:pt x="10257" y="65067"/>
                    <a:pt x="22957" y="51097"/>
                  </a:cubicBezTo>
                  <a:cubicBezTo>
                    <a:pt x="35657" y="39667"/>
                    <a:pt x="72487" y="33317"/>
                    <a:pt x="72487" y="33317"/>
                  </a:cubicBezTo>
                </a:path>
              </a:pathLst>
            </a:custGeom>
            <a:solidFill>
              <a:srgbClr val="4A44BD"/>
            </a:solidFill>
            <a:ln cap="sq">
              <a:noFill/>
              <a:prstDash val="solid"/>
              <a:miter/>
            </a:ln>
          </p:spPr>
        </p:sp>
      </p:grpSp>
      <p:sp>
        <p:nvSpPr>
          <p:cNvPr id="16" name="TextBox 16"/>
          <p:cNvSpPr txBox="1"/>
          <p:nvPr/>
        </p:nvSpPr>
        <p:spPr>
          <a:xfrm>
            <a:off x="3706794" y="3894142"/>
            <a:ext cx="9329515" cy="30582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3400" b="1">
                <a:solidFill>
                  <a:srgbClr val="000000"/>
                </a:solidFill>
                <a:latin typeface="+mj-lt"/>
                <a:ea typeface="Open Sans Bold"/>
                <a:cs typeface="Open Sans Bold"/>
                <a:sym typeface="Open Sans Bold"/>
              </a:rPr>
              <a:t>Áp dụng mô hình Agile với framework Scrum.</a:t>
            </a:r>
          </a:p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3400" b="1">
                <a:solidFill>
                  <a:srgbClr val="000000"/>
                </a:solidFill>
                <a:latin typeface="+mj-lt"/>
                <a:ea typeface="Open Sans Bold"/>
                <a:cs typeface="Open Sans Bold"/>
                <a:sym typeface="Open Sans Bold"/>
              </a:rPr>
              <a:t>Chia nhỏ dự án thành các chu kỳ Sprint.</a:t>
            </a:r>
          </a:p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3400" b="1">
                <a:solidFill>
                  <a:srgbClr val="000000"/>
                </a:solidFill>
                <a:latin typeface="+mj-lt"/>
                <a:ea typeface="Open Sans Bold"/>
                <a:cs typeface="Open Sans Bold"/>
                <a:sym typeface="Open Sans Bold"/>
              </a:rPr>
              <a:t>Dễ dàng thích ứng và linh hoạt thay đổi.</a:t>
            </a:r>
          </a:p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3400" b="1">
                <a:solidFill>
                  <a:srgbClr val="000000"/>
                </a:solidFill>
                <a:latin typeface="+mj-lt"/>
                <a:ea typeface="Open Sans Bold"/>
                <a:cs typeface="Open Sans Bold"/>
                <a:sym typeface="Open Sans Bold"/>
              </a:rPr>
              <a:t>Quản lý tiến độ công việc bằng phần mềm Jira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7476642" y="9635783"/>
            <a:ext cx="651416" cy="3355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4A44BD"/>
                </a:solidFill>
                <a:latin typeface="Noto Sans"/>
                <a:ea typeface="Noto Sans"/>
                <a:cs typeface="Noto Sans"/>
                <a:sym typeface="Noto San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6695908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59942" y="9547355"/>
            <a:ext cx="17968116" cy="573730"/>
          </a:xfrm>
          <a:custGeom>
            <a:avLst/>
            <a:gdLst/>
            <a:ahLst/>
            <a:cxnLst/>
            <a:rect l="l" t="t" r="r" b="b"/>
            <a:pathLst>
              <a:path w="17968116" h="573730">
                <a:moveTo>
                  <a:pt x="0" y="0"/>
                </a:moveTo>
                <a:lnTo>
                  <a:pt x="17968116" y="0"/>
                </a:lnTo>
                <a:lnTo>
                  <a:pt x="17968116" y="573730"/>
                </a:lnTo>
                <a:lnTo>
                  <a:pt x="0" y="57373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5170" t="-31148" r="-1846" b="-15442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-152400" y="603451"/>
            <a:ext cx="19197866" cy="119263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917573" lvl="1" algn="l">
              <a:lnSpc>
                <a:spcPts val="9349"/>
              </a:lnSpc>
            </a:pPr>
            <a:r>
              <a:rPr lang="en-US" sz="8499" b="1" spc="-169">
                <a:solidFill>
                  <a:srgbClr val="4A44BD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3. Phân tích yêu cầu hệ thống(1/3)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7476642" y="9635783"/>
            <a:ext cx="651416" cy="3590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4A44BD"/>
                </a:solidFill>
                <a:latin typeface="Noto Sans"/>
                <a:ea typeface="Noto Sans"/>
                <a:cs typeface="Noto Sans"/>
                <a:sym typeface="Noto Sans"/>
              </a:rPr>
              <a:t>04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451228" y="2092516"/>
            <a:ext cx="7560344" cy="7181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sz="5000" b="1">
                <a:solidFill>
                  <a:srgbClr val="4A44BD"/>
                </a:solidFill>
                <a:latin typeface="+mj-lt"/>
                <a:ea typeface="Be Vietnam Ultra-Bold"/>
                <a:cs typeface="Be Vietnam Ultra-Bold"/>
                <a:sym typeface="Be Vietnam Ultra-Bold"/>
              </a:rPr>
              <a:t>Đối tượng sử dụng hệ thống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456224" y="3580088"/>
            <a:ext cx="14278966" cy="7181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sz="4500">
                <a:solidFill>
                  <a:srgbClr val="000000"/>
                </a:solidFill>
                <a:latin typeface="+mj-lt"/>
                <a:ea typeface="Open Sans"/>
                <a:cs typeface="Open Sans"/>
                <a:sym typeface="Open Sans"/>
              </a:rPr>
              <a:t>Ứng viên: Lọc tin, tạo cv và ứng tuyển.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451228" y="4765771"/>
            <a:ext cx="13504672" cy="7181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sz="4500">
                <a:solidFill>
                  <a:srgbClr val="000000"/>
                </a:solidFill>
                <a:latin typeface="+mj-lt"/>
                <a:ea typeface="Open Sans"/>
                <a:cs typeface="Open Sans"/>
                <a:sym typeface="Open Sans"/>
              </a:rPr>
              <a:t>Nhà tuyển dụng: Đăng tin và nộp hồ sơ.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451228" y="6102447"/>
            <a:ext cx="13084341" cy="7181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sz="4500">
                <a:solidFill>
                  <a:srgbClr val="000000"/>
                </a:solidFill>
                <a:latin typeface="+mj-lt"/>
                <a:ea typeface="Open Sans"/>
                <a:cs typeface="Open Sans"/>
                <a:sym typeface="Open Sans"/>
              </a:rPr>
              <a:t>Admin: Quản lý tài khoản và xem thống kê</a:t>
            </a:r>
          </a:p>
        </p:txBody>
      </p:sp>
      <p:grpSp>
        <p:nvGrpSpPr>
          <p:cNvPr id="9" name="Group 9"/>
          <p:cNvGrpSpPr/>
          <p:nvPr/>
        </p:nvGrpSpPr>
        <p:grpSpPr>
          <a:xfrm rot="-10800000">
            <a:off x="759301" y="3807594"/>
            <a:ext cx="548790" cy="451945"/>
            <a:chOff x="0" y="0"/>
            <a:chExt cx="647700" cy="5334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647700" cy="533400"/>
            </a:xfrm>
            <a:custGeom>
              <a:avLst/>
              <a:gdLst/>
              <a:ahLst/>
              <a:cxnLst/>
              <a:rect l="l" t="t" r="r" b="b"/>
              <a:pathLst>
                <a:path w="647700" h="533400">
                  <a:moveTo>
                    <a:pt x="239386" y="166418"/>
                  </a:moveTo>
                  <a:lnTo>
                    <a:pt x="647700" y="166418"/>
                  </a:lnTo>
                  <a:lnTo>
                    <a:pt x="647700" y="366942"/>
                  </a:lnTo>
                  <a:lnTo>
                    <a:pt x="239373" y="366942"/>
                  </a:lnTo>
                  <a:lnTo>
                    <a:pt x="302255" y="533400"/>
                  </a:lnTo>
                  <a:lnTo>
                    <a:pt x="0" y="266700"/>
                  </a:lnTo>
                  <a:lnTo>
                    <a:pt x="302255" y="0"/>
                  </a:lnTo>
                  <a:lnTo>
                    <a:pt x="239386" y="166418"/>
                  </a:lnTo>
                  <a:close/>
                </a:path>
              </a:pathLst>
            </a:custGeom>
            <a:solidFill>
              <a:srgbClr val="4A44BD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120650" y="127000"/>
              <a:ext cx="527050" cy="241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 rot="-10800000">
            <a:off x="754305" y="4917624"/>
            <a:ext cx="548790" cy="451945"/>
            <a:chOff x="0" y="0"/>
            <a:chExt cx="647700" cy="5334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647700" cy="533400"/>
            </a:xfrm>
            <a:custGeom>
              <a:avLst/>
              <a:gdLst/>
              <a:ahLst/>
              <a:cxnLst/>
              <a:rect l="l" t="t" r="r" b="b"/>
              <a:pathLst>
                <a:path w="647700" h="533400">
                  <a:moveTo>
                    <a:pt x="239386" y="166418"/>
                  </a:moveTo>
                  <a:lnTo>
                    <a:pt x="647700" y="166418"/>
                  </a:lnTo>
                  <a:lnTo>
                    <a:pt x="647700" y="366942"/>
                  </a:lnTo>
                  <a:lnTo>
                    <a:pt x="239373" y="366942"/>
                  </a:lnTo>
                  <a:lnTo>
                    <a:pt x="302255" y="533400"/>
                  </a:lnTo>
                  <a:lnTo>
                    <a:pt x="0" y="266700"/>
                  </a:lnTo>
                  <a:lnTo>
                    <a:pt x="302255" y="0"/>
                  </a:lnTo>
                  <a:lnTo>
                    <a:pt x="239386" y="166418"/>
                  </a:lnTo>
                  <a:close/>
                </a:path>
              </a:pathLst>
            </a:custGeom>
            <a:solidFill>
              <a:srgbClr val="4A44BD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120650" y="127000"/>
              <a:ext cx="527050" cy="241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 rot="-10800000">
            <a:off x="754305" y="6329953"/>
            <a:ext cx="548790" cy="451945"/>
            <a:chOff x="0" y="0"/>
            <a:chExt cx="647700" cy="5334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647700" cy="533400"/>
            </a:xfrm>
            <a:custGeom>
              <a:avLst/>
              <a:gdLst/>
              <a:ahLst/>
              <a:cxnLst/>
              <a:rect l="l" t="t" r="r" b="b"/>
              <a:pathLst>
                <a:path w="647700" h="533400">
                  <a:moveTo>
                    <a:pt x="239386" y="166418"/>
                  </a:moveTo>
                  <a:lnTo>
                    <a:pt x="647700" y="166418"/>
                  </a:lnTo>
                  <a:lnTo>
                    <a:pt x="647700" y="366942"/>
                  </a:lnTo>
                  <a:lnTo>
                    <a:pt x="239373" y="366942"/>
                  </a:lnTo>
                  <a:lnTo>
                    <a:pt x="302255" y="533400"/>
                  </a:lnTo>
                  <a:lnTo>
                    <a:pt x="0" y="266700"/>
                  </a:lnTo>
                  <a:lnTo>
                    <a:pt x="302255" y="0"/>
                  </a:lnTo>
                  <a:lnTo>
                    <a:pt x="239386" y="166418"/>
                  </a:lnTo>
                  <a:close/>
                </a:path>
              </a:pathLst>
            </a:custGeom>
            <a:solidFill>
              <a:srgbClr val="4A44BD"/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120650" y="127000"/>
              <a:ext cx="527050" cy="241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59942" y="9547355"/>
            <a:ext cx="17968116" cy="573730"/>
          </a:xfrm>
          <a:custGeom>
            <a:avLst/>
            <a:gdLst/>
            <a:ahLst/>
            <a:cxnLst/>
            <a:rect l="l" t="t" r="r" b="b"/>
            <a:pathLst>
              <a:path w="17968116" h="573730">
                <a:moveTo>
                  <a:pt x="0" y="0"/>
                </a:moveTo>
                <a:lnTo>
                  <a:pt x="17968116" y="0"/>
                </a:lnTo>
                <a:lnTo>
                  <a:pt x="17968116" y="573730"/>
                </a:lnTo>
                <a:lnTo>
                  <a:pt x="0" y="57373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5170" t="-31148" r="-1846" b="-15442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-228600" y="603451"/>
            <a:ext cx="18740666" cy="238526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917573" lvl="1">
              <a:lnSpc>
                <a:spcPts val="9349"/>
              </a:lnSpc>
            </a:pPr>
            <a:r>
              <a:rPr lang="en-US" sz="8499" b="1" spc="-169">
                <a:solidFill>
                  <a:srgbClr val="4A44BD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4. Phân tích yêu cầu hệ thống(2/3)</a:t>
            </a:r>
          </a:p>
          <a:p>
            <a:pPr marL="917573" lvl="1">
              <a:lnSpc>
                <a:spcPts val="9349"/>
              </a:lnSpc>
            </a:pPr>
            <a:endParaRPr lang="en-US" sz="8499" b="1" spc="-169">
              <a:solidFill>
                <a:srgbClr val="4A44BD"/>
              </a:solidFill>
              <a:latin typeface="Be Vietnam Ultra-Bold"/>
              <a:ea typeface="Be Vietnam Ultra-Bold"/>
              <a:cs typeface="Be Vietnam Ultra-Bold"/>
              <a:sym typeface="Be Vietnam Ultra-Bold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17476642" y="9635783"/>
            <a:ext cx="651416" cy="3590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4A44BD"/>
                </a:solidFill>
                <a:latin typeface="Noto Sans"/>
                <a:ea typeface="Noto Sans"/>
                <a:cs typeface="Noto Sans"/>
                <a:sym typeface="Noto Sans"/>
              </a:rPr>
              <a:t>05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451228" y="2092516"/>
            <a:ext cx="11731372" cy="7181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sz="5000" b="1">
                <a:solidFill>
                  <a:srgbClr val="4A44BD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User Stories và yêu cầu chức năng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451228" y="3429095"/>
            <a:ext cx="14278966" cy="7181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sz="45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Ứng viên muốn lọc việc để tìm kiếm nhanh.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451228" y="4765771"/>
            <a:ext cx="13504672" cy="7181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sz="45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Ứng viên muốn nộp CV trực tuyến dễ dàng.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451228" y="6102447"/>
            <a:ext cx="14093572" cy="7181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sz="45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Doanh nghiệp muốn đăng tin để thu hút nhân sự.</a:t>
            </a:r>
          </a:p>
        </p:txBody>
      </p:sp>
      <p:grpSp>
        <p:nvGrpSpPr>
          <p:cNvPr id="9" name="Group 9"/>
          <p:cNvGrpSpPr/>
          <p:nvPr/>
        </p:nvGrpSpPr>
        <p:grpSpPr>
          <a:xfrm rot="-10800000">
            <a:off x="754305" y="3656601"/>
            <a:ext cx="548790" cy="451945"/>
            <a:chOff x="0" y="0"/>
            <a:chExt cx="647700" cy="5334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647700" cy="533400"/>
            </a:xfrm>
            <a:custGeom>
              <a:avLst/>
              <a:gdLst/>
              <a:ahLst/>
              <a:cxnLst/>
              <a:rect l="l" t="t" r="r" b="b"/>
              <a:pathLst>
                <a:path w="647700" h="533400">
                  <a:moveTo>
                    <a:pt x="239386" y="166418"/>
                  </a:moveTo>
                  <a:lnTo>
                    <a:pt x="647700" y="166418"/>
                  </a:lnTo>
                  <a:lnTo>
                    <a:pt x="647700" y="366942"/>
                  </a:lnTo>
                  <a:lnTo>
                    <a:pt x="239373" y="366942"/>
                  </a:lnTo>
                  <a:lnTo>
                    <a:pt x="302255" y="533400"/>
                  </a:lnTo>
                  <a:lnTo>
                    <a:pt x="0" y="266700"/>
                  </a:lnTo>
                  <a:lnTo>
                    <a:pt x="302255" y="0"/>
                  </a:lnTo>
                  <a:lnTo>
                    <a:pt x="239386" y="166418"/>
                  </a:lnTo>
                  <a:close/>
                </a:path>
              </a:pathLst>
            </a:custGeom>
            <a:solidFill>
              <a:srgbClr val="4A44BD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120650" y="127000"/>
              <a:ext cx="527050" cy="241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 rot="-10800000">
            <a:off x="754305" y="4917624"/>
            <a:ext cx="548790" cy="451945"/>
            <a:chOff x="0" y="0"/>
            <a:chExt cx="647700" cy="5334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647700" cy="533400"/>
            </a:xfrm>
            <a:custGeom>
              <a:avLst/>
              <a:gdLst/>
              <a:ahLst/>
              <a:cxnLst/>
              <a:rect l="l" t="t" r="r" b="b"/>
              <a:pathLst>
                <a:path w="647700" h="533400">
                  <a:moveTo>
                    <a:pt x="239386" y="166418"/>
                  </a:moveTo>
                  <a:lnTo>
                    <a:pt x="647700" y="166418"/>
                  </a:lnTo>
                  <a:lnTo>
                    <a:pt x="647700" y="366942"/>
                  </a:lnTo>
                  <a:lnTo>
                    <a:pt x="239373" y="366942"/>
                  </a:lnTo>
                  <a:lnTo>
                    <a:pt x="302255" y="533400"/>
                  </a:lnTo>
                  <a:lnTo>
                    <a:pt x="0" y="266700"/>
                  </a:lnTo>
                  <a:lnTo>
                    <a:pt x="302255" y="0"/>
                  </a:lnTo>
                  <a:lnTo>
                    <a:pt x="239386" y="166418"/>
                  </a:lnTo>
                  <a:close/>
                </a:path>
              </a:pathLst>
            </a:custGeom>
            <a:solidFill>
              <a:srgbClr val="4A44BD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120650" y="127000"/>
              <a:ext cx="527050" cy="241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 rot="-10800000">
            <a:off x="754305" y="6329953"/>
            <a:ext cx="548790" cy="451945"/>
            <a:chOff x="0" y="0"/>
            <a:chExt cx="647700" cy="5334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647700" cy="533400"/>
            </a:xfrm>
            <a:custGeom>
              <a:avLst/>
              <a:gdLst/>
              <a:ahLst/>
              <a:cxnLst/>
              <a:rect l="l" t="t" r="r" b="b"/>
              <a:pathLst>
                <a:path w="647700" h="533400">
                  <a:moveTo>
                    <a:pt x="239386" y="166418"/>
                  </a:moveTo>
                  <a:lnTo>
                    <a:pt x="647700" y="166418"/>
                  </a:lnTo>
                  <a:lnTo>
                    <a:pt x="647700" y="366942"/>
                  </a:lnTo>
                  <a:lnTo>
                    <a:pt x="239373" y="366942"/>
                  </a:lnTo>
                  <a:lnTo>
                    <a:pt x="302255" y="533400"/>
                  </a:lnTo>
                  <a:lnTo>
                    <a:pt x="0" y="266700"/>
                  </a:lnTo>
                  <a:lnTo>
                    <a:pt x="302255" y="0"/>
                  </a:lnTo>
                  <a:lnTo>
                    <a:pt x="239386" y="166418"/>
                  </a:lnTo>
                  <a:close/>
                </a:path>
              </a:pathLst>
            </a:custGeom>
            <a:solidFill>
              <a:srgbClr val="4A44BD"/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120650" y="127000"/>
              <a:ext cx="527050" cy="241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sp>
        <p:nvSpPr>
          <p:cNvPr id="18" name="TextBox 8"/>
          <p:cNvSpPr txBox="1"/>
          <p:nvPr/>
        </p:nvSpPr>
        <p:spPr>
          <a:xfrm>
            <a:off x="1418277" y="7416881"/>
            <a:ext cx="14093572" cy="7181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sz="45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Admin muốn quản lý để bảo mật hệ thống.</a:t>
            </a:r>
          </a:p>
        </p:txBody>
      </p:sp>
      <p:grpSp>
        <p:nvGrpSpPr>
          <p:cNvPr id="19" name="Group 15"/>
          <p:cNvGrpSpPr/>
          <p:nvPr/>
        </p:nvGrpSpPr>
        <p:grpSpPr>
          <a:xfrm rot="-10800000">
            <a:off x="721354" y="7644387"/>
            <a:ext cx="548790" cy="451945"/>
            <a:chOff x="0" y="0"/>
            <a:chExt cx="647700" cy="533400"/>
          </a:xfrm>
        </p:grpSpPr>
        <p:sp>
          <p:nvSpPr>
            <p:cNvPr id="20" name="Freeform 16"/>
            <p:cNvSpPr/>
            <p:nvPr/>
          </p:nvSpPr>
          <p:spPr>
            <a:xfrm>
              <a:off x="0" y="0"/>
              <a:ext cx="647700" cy="533400"/>
            </a:xfrm>
            <a:custGeom>
              <a:avLst/>
              <a:gdLst/>
              <a:ahLst/>
              <a:cxnLst/>
              <a:rect l="l" t="t" r="r" b="b"/>
              <a:pathLst>
                <a:path w="647700" h="533400">
                  <a:moveTo>
                    <a:pt x="239386" y="166418"/>
                  </a:moveTo>
                  <a:lnTo>
                    <a:pt x="647700" y="166418"/>
                  </a:lnTo>
                  <a:lnTo>
                    <a:pt x="647700" y="366942"/>
                  </a:lnTo>
                  <a:lnTo>
                    <a:pt x="239373" y="366942"/>
                  </a:lnTo>
                  <a:lnTo>
                    <a:pt x="302255" y="533400"/>
                  </a:lnTo>
                  <a:lnTo>
                    <a:pt x="0" y="266700"/>
                  </a:lnTo>
                  <a:lnTo>
                    <a:pt x="302255" y="0"/>
                  </a:lnTo>
                  <a:lnTo>
                    <a:pt x="239386" y="166418"/>
                  </a:lnTo>
                  <a:close/>
                </a:path>
              </a:pathLst>
            </a:custGeom>
            <a:solidFill>
              <a:srgbClr val="4A44BD"/>
            </a:solidFill>
          </p:spPr>
        </p:sp>
        <p:sp>
          <p:nvSpPr>
            <p:cNvPr id="21" name="TextBox 17"/>
            <p:cNvSpPr txBox="1"/>
            <p:nvPr/>
          </p:nvSpPr>
          <p:spPr>
            <a:xfrm>
              <a:off x="120650" y="127000"/>
              <a:ext cx="527050" cy="241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5256504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59942" y="9547355"/>
            <a:ext cx="17968116" cy="573730"/>
          </a:xfrm>
          <a:custGeom>
            <a:avLst/>
            <a:gdLst/>
            <a:ahLst/>
            <a:cxnLst/>
            <a:rect l="l" t="t" r="r" b="b"/>
            <a:pathLst>
              <a:path w="17968116" h="573730">
                <a:moveTo>
                  <a:pt x="0" y="0"/>
                </a:moveTo>
                <a:lnTo>
                  <a:pt x="17968116" y="0"/>
                </a:lnTo>
                <a:lnTo>
                  <a:pt x="17968116" y="573730"/>
                </a:lnTo>
                <a:lnTo>
                  <a:pt x="0" y="57373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5170" t="-31148" r="-1846" b="-15442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-228600" y="603451"/>
            <a:ext cx="18740666" cy="238526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917573" lvl="1">
              <a:lnSpc>
                <a:spcPts val="9349"/>
              </a:lnSpc>
            </a:pPr>
            <a:r>
              <a:rPr lang="en-US" sz="8499" b="1" spc="-169">
                <a:solidFill>
                  <a:srgbClr val="4A44BD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5. Phân tích yêu cầu hệ thống(3/3)</a:t>
            </a:r>
          </a:p>
          <a:p>
            <a:pPr marL="917573" lvl="1">
              <a:lnSpc>
                <a:spcPts val="9349"/>
              </a:lnSpc>
            </a:pPr>
            <a:endParaRPr lang="en-US" sz="8499" b="1" spc="-169">
              <a:solidFill>
                <a:srgbClr val="4A44BD"/>
              </a:solidFill>
              <a:latin typeface="Be Vietnam Ultra-Bold"/>
              <a:ea typeface="Be Vietnam Ultra-Bold"/>
              <a:cs typeface="Be Vietnam Ultra-Bold"/>
              <a:sym typeface="Be Vietnam Ultra-Bold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17476642" y="9635783"/>
            <a:ext cx="651416" cy="3590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4A44BD"/>
                </a:solidFill>
                <a:latin typeface="Noto Sans"/>
                <a:ea typeface="Noto Sans"/>
                <a:cs typeface="Noto Sans"/>
                <a:sym typeface="Noto Sans"/>
              </a:rPr>
              <a:t>06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451228" y="2092516"/>
            <a:ext cx="11731372" cy="7181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sz="5000" b="1">
                <a:solidFill>
                  <a:srgbClr val="4A44BD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Product Backlog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451228" y="3429095"/>
            <a:ext cx="14278966" cy="7181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sz="45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Đăng ký, đăng nhập và xác thực tài khoản.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451228" y="4425355"/>
            <a:ext cx="13504672" cy="7181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sz="45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Quản lý thông tin ứng viên và tải CV.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451228" y="5373369"/>
            <a:ext cx="14093572" cy="7181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sz="45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Quản lý công ty và đăng tin tuyển dụng.</a:t>
            </a:r>
          </a:p>
        </p:txBody>
      </p:sp>
      <p:grpSp>
        <p:nvGrpSpPr>
          <p:cNvPr id="9" name="Group 9"/>
          <p:cNvGrpSpPr/>
          <p:nvPr/>
        </p:nvGrpSpPr>
        <p:grpSpPr>
          <a:xfrm rot="-10800000">
            <a:off x="754305" y="3656601"/>
            <a:ext cx="548790" cy="451945"/>
            <a:chOff x="0" y="0"/>
            <a:chExt cx="647700" cy="5334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647700" cy="533400"/>
            </a:xfrm>
            <a:custGeom>
              <a:avLst/>
              <a:gdLst/>
              <a:ahLst/>
              <a:cxnLst/>
              <a:rect l="l" t="t" r="r" b="b"/>
              <a:pathLst>
                <a:path w="647700" h="533400">
                  <a:moveTo>
                    <a:pt x="239386" y="166418"/>
                  </a:moveTo>
                  <a:lnTo>
                    <a:pt x="647700" y="166418"/>
                  </a:lnTo>
                  <a:lnTo>
                    <a:pt x="647700" y="366942"/>
                  </a:lnTo>
                  <a:lnTo>
                    <a:pt x="239373" y="366942"/>
                  </a:lnTo>
                  <a:lnTo>
                    <a:pt x="302255" y="533400"/>
                  </a:lnTo>
                  <a:lnTo>
                    <a:pt x="0" y="266700"/>
                  </a:lnTo>
                  <a:lnTo>
                    <a:pt x="302255" y="0"/>
                  </a:lnTo>
                  <a:lnTo>
                    <a:pt x="239386" y="166418"/>
                  </a:lnTo>
                  <a:close/>
                </a:path>
              </a:pathLst>
            </a:custGeom>
            <a:solidFill>
              <a:srgbClr val="4A44BD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120650" y="127000"/>
              <a:ext cx="527050" cy="241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 rot="-10800000">
            <a:off x="754305" y="4577208"/>
            <a:ext cx="548790" cy="451945"/>
            <a:chOff x="0" y="0"/>
            <a:chExt cx="647700" cy="5334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647700" cy="533400"/>
            </a:xfrm>
            <a:custGeom>
              <a:avLst/>
              <a:gdLst/>
              <a:ahLst/>
              <a:cxnLst/>
              <a:rect l="l" t="t" r="r" b="b"/>
              <a:pathLst>
                <a:path w="647700" h="533400">
                  <a:moveTo>
                    <a:pt x="239386" y="166418"/>
                  </a:moveTo>
                  <a:lnTo>
                    <a:pt x="647700" y="166418"/>
                  </a:lnTo>
                  <a:lnTo>
                    <a:pt x="647700" y="366942"/>
                  </a:lnTo>
                  <a:lnTo>
                    <a:pt x="239373" y="366942"/>
                  </a:lnTo>
                  <a:lnTo>
                    <a:pt x="302255" y="533400"/>
                  </a:lnTo>
                  <a:lnTo>
                    <a:pt x="0" y="266700"/>
                  </a:lnTo>
                  <a:lnTo>
                    <a:pt x="302255" y="0"/>
                  </a:lnTo>
                  <a:lnTo>
                    <a:pt x="239386" y="166418"/>
                  </a:lnTo>
                  <a:close/>
                </a:path>
              </a:pathLst>
            </a:custGeom>
            <a:solidFill>
              <a:srgbClr val="4A44BD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120650" y="127000"/>
              <a:ext cx="527050" cy="241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 rot="-10800000">
            <a:off x="754305" y="5600875"/>
            <a:ext cx="548790" cy="451945"/>
            <a:chOff x="0" y="0"/>
            <a:chExt cx="647700" cy="5334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647700" cy="533400"/>
            </a:xfrm>
            <a:custGeom>
              <a:avLst/>
              <a:gdLst/>
              <a:ahLst/>
              <a:cxnLst/>
              <a:rect l="l" t="t" r="r" b="b"/>
              <a:pathLst>
                <a:path w="647700" h="533400">
                  <a:moveTo>
                    <a:pt x="239386" y="166418"/>
                  </a:moveTo>
                  <a:lnTo>
                    <a:pt x="647700" y="166418"/>
                  </a:lnTo>
                  <a:lnTo>
                    <a:pt x="647700" y="366942"/>
                  </a:lnTo>
                  <a:lnTo>
                    <a:pt x="239373" y="366942"/>
                  </a:lnTo>
                  <a:lnTo>
                    <a:pt x="302255" y="533400"/>
                  </a:lnTo>
                  <a:lnTo>
                    <a:pt x="0" y="266700"/>
                  </a:lnTo>
                  <a:lnTo>
                    <a:pt x="302255" y="0"/>
                  </a:lnTo>
                  <a:lnTo>
                    <a:pt x="239386" y="166418"/>
                  </a:lnTo>
                  <a:close/>
                </a:path>
              </a:pathLst>
            </a:custGeom>
            <a:solidFill>
              <a:srgbClr val="4A44BD"/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120650" y="127000"/>
              <a:ext cx="527050" cy="241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sp>
        <p:nvSpPr>
          <p:cNvPr id="18" name="TextBox 8"/>
          <p:cNvSpPr txBox="1"/>
          <p:nvPr/>
        </p:nvSpPr>
        <p:spPr>
          <a:xfrm>
            <a:off x="1451228" y="6408323"/>
            <a:ext cx="14093572" cy="7181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sz="45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Tìm kiếm lọc bài đăng và nộp hồ sơ.</a:t>
            </a:r>
          </a:p>
        </p:txBody>
      </p:sp>
      <p:grpSp>
        <p:nvGrpSpPr>
          <p:cNvPr id="19" name="Group 15"/>
          <p:cNvGrpSpPr/>
          <p:nvPr/>
        </p:nvGrpSpPr>
        <p:grpSpPr>
          <a:xfrm rot="-10800000">
            <a:off x="754305" y="6635829"/>
            <a:ext cx="548790" cy="451945"/>
            <a:chOff x="0" y="0"/>
            <a:chExt cx="647700" cy="533400"/>
          </a:xfrm>
        </p:grpSpPr>
        <p:sp>
          <p:nvSpPr>
            <p:cNvPr id="20" name="Freeform 16"/>
            <p:cNvSpPr/>
            <p:nvPr/>
          </p:nvSpPr>
          <p:spPr>
            <a:xfrm>
              <a:off x="0" y="0"/>
              <a:ext cx="647700" cy="533400"/>
            </a:xfrm>
            <a:custGeom>
              <a:avLst/>
              <a:gdLst/>
              <a:ahLst/>
              <a:cxnLst/>
              <a:rect l="l" t="t" r="r" b="b"/>
              <a:pathLst>
                <a:path w="647700" h="533400">
                  <a:moveTo>
                    <a:pt x="239386" y="166418"/>
                  </a:moveTo>
                  <a:lnTo>
                    <a:pt x="647700" y="166418"/>
                  </a:lnTo>
                  <a:lnTo>
                    <a:pt x="647700" y="366942"/>
                  </a:lnTo>
                  <a:lnTo>
                    <a:pt x="239373" y="366942"/>
                  </a:lnTo>
                  <a:lnTo>
                    <a:pt x="302255" y="533400"/>
                  </a:lnTo>
                  <a:lnTo>
                    <a:pt x="0" y="266700"/>
                  </a:lnTo>
                  <a:lnTo>
                    <a:pt x="302255" y="0"/>
                  </a:lnTo>
                  <a:lnTo>
                    <a:pt x="239386" y="166418"/>
                  </a:lnTo>
                  <a:close/>
                </a:path>
              </a:pathLst>
            </a:custGeom>
            <a:solidFill>
              <a:srgbClr val="4A44BD"/>
            </a:solidFill>
          </p:spPr>
        </p:sp>
        <p:sp>
          <p:nvSpPr>
            <p:cNvPr id="21" name="TextBox 17"/>
            <p:cNvSpPr txBox="1"/>
            <p:nvPr/>
          </p:nvSpPr>
          <p:spPr>
            <a:xfrm>
              <a:off x="120650" y="127000"/>
              <a:ext cx="527050" cy="241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sp>
        <p:nvSpPr>
          <p:cNvPr id="22" name="TextBox 8"/>
          <p:cNvSpPr txBox="1"/>
          <p:nvPr/>
        </p:nvSpPr>
        <p:spPr>
          <a:xfrm>
            <a:off x="1457406" y="7381128"/>
            <a:ext cx="14093572" cy="7181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sz="45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Lưu việc yêu thích và theo dõi doanh nghiệp.</a:t>
            </a:r>
          </a:p>
        </p:txBody>
      </p:sp>
      <p:grpSp>
        <p:nvGrpSpPr>
          <p:cNvPr id="23" name="Group 15"/>
          <p:cNvGrpSpPr/>
          <p:nvPr/>
        </p:nvGrpSpPr>
        <p:grpSpPr>
          <a:xfrm rot="-10800000">
            <a:off x="760483" y="7608634"/>
            <a:ext cx="548790" cy="451945"/>
            <a:chOff x="0" y="0"/>
            <a:chExt cx="647700" cy="533400"/>
          </a:xfrm>
        </p:grpSpPr>
        <p:sp>
          <p:nvSpPr>
            <p:cNvPr id="24" name="Freeform 16"/>
            <p:cNvSpPr/>
            <p:nvPr/>
          </p:nvSpPr>
          <p:spPr>
            <a:xfrm>
              <a:off x="0" y="0"/>
              <a:ext cx="647700" cy="533400"/>
            </a:xfrm>
            <a:custGeom>
              <a:avLst/>
              <a:gdLst/>
              <a:ahLst/>
              <a:cxnLst/>
              <a:rect l="l" t="t" r="r" b="b"/>
              <a:pathLst>
                <a:path w="647700" h="533400">
                  <a:moveTo>
                    <a:pt x="239386" y="166418"/>
                  </a:moveTo>
                  <a:lnTo>
                    <a:pt x="647700" y="166418"/>
                  </a:lnTo>
                  <a:lnTo>
                    <a:pt x="647700" y="366942"/>
                  </a:lnTo>
                  <a:lnTo>
                    <a:pt x="239373" y="366942"/>
                  </a:lnTo>
                  <a:lnTo>
                    <a:pt x="302255" y="533400"/>
                  </a:lnTo>
                  <a:lnTo>
                    <a:pt x="0" y="266700"/>
                  </a:lnTo>
                  <a:lnTo>
                    <a:pt x="302255" y="0"/>
                  </a:lnTo>
                  <a:lnTo>
                    <a:pt x="239386" y="166418"/>
                  </a:lnTo>
                  <a:close/>
                </a:path>
              </a:pathLst>
            </a:custGeom>
            <a:solidFill>
              <a:srgbClr val="4A44BD"/>
            </a:solidFill>
          </p:spPr>
        </p:sp>
        <p:sp>
          <p:nvSpPr>
            <p:cNvPr id="25" name="TextBox 17"/>
            <p:cNvSpPr txBox="1"/>
            <p:nvPr/>
          </p:nvSpPr>
          <p:spPr>
            <a:xfrm>
              <a:off x="120650" y="127000"/>
              <a:ext cx="527050" cy="241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sp>
        <p:nvSpPr>
          <p:cNvPr id="26" name="TextBox 8"/>
          <p:cNvSpPr txBox="1"/>
          <p:nvPr/>
        </p:nvSpPr>
        <p:spPr>
          <a:xfrm>
            <a:off x="1472463" y="8323083"/>
            <a:ext cx="14093572" cy="7181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sz="45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Kiểm thử hệ thống và đóng gói ứng dụng.</a:t>
            </a:r>
          </a:p>
        </p:txBody>
      </p:sp>
      <p:grpSp>
        <p:nvGrpSpPr>
          <p:cNvPr id="27" name="Group 15"/>
          <p:cNvGrpSpPr/>
          <p:nvPr/>
        </p:nvGrpSpPr>
        <p:grpSpPr>
          <a:xfrm rot="-10800000">
            <a:off x="775540" y="8550589"/>
            <a:ext cx="548790" cy="451945"/>
            <a:chOff x="0" y="0"/>
            <a:chExt cx="647700" cy="533400"/>
          </a:xfrm>
        </p:grpSpPr>
        <p:sp>
          <p:nvSpPr>
            <p:cNvPr id="28" name="Freeform 16"/>
            <p:cNvSpPr/>
            <p:nvPr/>
          </p:nvSpPr>
          <p:spPr>
            <a:xfrm>
              <a:off x="0" y="0"/>
              <a:ext cx="647700" cy="533400"/>
            </a:xfrm>
            <a:custGeom>
              <a:avLst/>
              <a:gdLst/>
              <a:ahLst/>
              <a:cxnLst/>
              <a:rect l="l" t="t" r="r" b="b"/>
              <a:pathLst>
                <a:path w="647700" h="533400">
                  <a:moveTo>
                    <a:pt x="239386" y="166418"/>
                  </a:moveTo>
                  <a:lnTo>
                    <a:pt x="647700" y="166418"/>
                  </a:lnTo>
                  <a:lnTo>
                    <a:pt x="647700" y="366942"/>
                  </a:lnTo>
                  <a:lnTo>
                    <a:pt x="239373" y="366942"/>
                  </a:lnTo>
                  <a:lnTo>
                    <a:pt x="302255" y="533400"/>
                  </a:lnTo>
                  <a:lnTo>
                    <a:pt x="0" y="266700"/>
                  </a:lnTo>
                  <a:lnTo>
                    <a:pt x="302255" y="0"/>
                  </a:lnTo>
                  <a:lnTo>
                    <a:pt x="239386" y="166418"/>
                  </a:lnTo>
                  <a:close/>
                </a:path>
              </a:pathLst>
            </a:custGeom>
            <a:solidFill>
              <a:srgbClr val="4A44BD"/>
            </a:solidFill>
          </p:spPr>
        </p:sp>
        <p:sp>
          <p:nvSpPr>
            <p:cNvPr id="29" name="TextBox 17"/>
            <p:cNvSpPr txBox="1"/>
            <p:nvPr/>
          </p:nvSpPr>
          <p:spPr>
            <a:xfrm>
              <a:off x="120650" y="127000"/>
              <a:ext cx="527050" cy="241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42004557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59942" y="9547355"/>
            <a:ext cx="17968116" cy="573730"/>
          </a:xfrm>
          <a:custGeom>
            <a:avLst/>
            <a:gdLst/>
            <a:ahLst/>
            <a:cxnLst/>
            <a:rect l="l" t="t" r="r" b="b"/>
            <a:pathLst>
              <a:path w="17968116" h="573730">
                <a:moveTo>
                  <a:pt x="0" y="0"/>
                </a:moveTo>
                <a:lnTo>
                  <a:pt x="17968116" y="0"/>
                </a:lnTo>
                <a:lnTo>
                  <a:pt x="17968116" y="573730"/>
                </a:lnTo>
                <a:lnTo>
                  <a:pt x="0" y="57373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5170" t="-31148" r="-1846" b="-15442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-228600" y="603451"/>
            <a:ext cx="18740666" cy="238526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917573" lvl="1">
              <a:lnSpc>
                <a:spcPts val="9349"/>
              </a:lnSpc>
            </a:pPr>
            <a:r>
              <a:rPr lang="en-US" sz="8499" b="1" spc="-169">
                <a:solidFill>
                  <a:srgbClr val="4A44BD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6. Kế hoạch Scrum &amp; các Sprint</a:t>
            </a:r>
          </a:p>
          <a:p>
            <a:pPr marL="917573" lvl="1">
              <a:lnSpc>
                <a:spcPts val="9349"/>
              </a:lnSpc>
            </a:pPr>
            <a:endParaRPr lang="en-US" sz="8499" b="1" spc="-169">
              <a:solidFill>
                <a:srgbClr val="4A44BD"/>
              </a:solidFill>
              <a:latin typeface="Be Vietnam Ultra-Bold"/>
              <a:ea typeface="Be Vietnam Ultra-Bold"/>
              <a:cs typeface="Be Vietnam Ultra-Bold"/>
              <a:sym typeface="Be Vietnam Ultra-Bold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17476642" y="9635783"/>
            <a:ext cx="651416" cy="3590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4A44BD"/>
                </a:solidFill>
                <a:latin typeface="Noto Sans"/>
                <a:ea typeface="Noto Sans"/>
                <a:cs typeface="Noto Sans"/>
                <a:sym typeface="Noto Sans"/>
              </a:rPr>
              <a:t>07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451228" y="2055727"/>
            <a:ext cx="14278966" cy="7181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sz="45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Sprint 1: Phân tích yêu cầu và các thiết kế UI.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451228" y="3051987"/>
            <a:ext cx="13504672" cy="7181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sz="45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Sprint 2: Xây dựng CSDL và phát triển API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451228" y="4000001"/>
            <a:ext cx="14093572" cy="7181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sz="45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Sprint 3: Thiết kế Frontend và tích hợp API.</a:t>
            </a:r>
          </a:p>
        </p:txBody>
      </p:sp>
      <p:grpSp>
        <p:nvGrpSpPr>
          <p:cNvPr id="9" name="Group 9"/>
          <p:cNvGrpSpPr/>
          <p:nvPr/>
        </p:nvGrpSpPr>
        <p:grpSpPr>
          <a:xfrm rot="-10800000">
            <a:off x="754305" y="2283233"/>
            <a:ext cx="548790" cy="451945"/>
            <a:chOff x="0" y="0"/>
            <a:chExt cx="647700" cy="5334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647700" cy="533400"/>
            </a:xfrm>
            <a:custGeom>
              <a:avLst/>
              <a:gdLst/>
              <a:ahLst/>
              <a:cxnLst/>
              <a:rect l="l" t="t" r="r" b="b"/>
              <a:pathLst>
                <a:path w="647700" h="533400">
                  <a:moveTo>
                    <a:pt x="239386" y="166418"/>
                  </a:moveTo>
                  <a:lnTo>
                    <a:pt x="647700" y="166418"/>
                  </a:lnTo>
                  <a:lnTo>
                    <a:pt x="647700" y="366942"/>
                  </a:lnTo>
                  <a:lnTo>
                    <a:pt x="239373" y="366942"/>
                  </a:lnTo>
                  <a:lnTo>
                    <a:pt x="302255" y="533400"/>
                  </a:lnTo>
                  <a:lnTo>
                    <a:pt x="0" y="266700"/>
                  </a:lnTo>
                  <a:lnTo>
                    <a:pt x="302255" y="0"/>
                  </a:lnTo>
                  <a:lnTo>
                    <a:pt x="239386" y="166418"/>
                  </a:lnTo>
                  <a:close/>
                </a:path>
              </a:pathLst>
            </a:custGeom>
            <a:solidFill>
              <a:srgbClr val="4A44BD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120650" y="127000"/>
              <a:ext cx="527050" cy="241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 rot="-10800000">
            <a:off x="754305" y="3203840"/>
            <a:ext cx="548790" cy="451945"/>
            <a:chOff x="0" y="0"/>
            <a:chExt cx="647700" cy="5334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647700" cy="533400"/>
            </a:xfrm>
            <a:custGeom>
              <a:avLst/>
              <a:gdLst/>
              <a:ahLst/>
              <a:cxnLst/>
              <a:rect l="l" t="t" r="r" b="b"/>
              <a:pathLst>
                <a:path w="647700" h="533400">
                  <a:moveTo>
                    <a:pt x="239386" y="166418"/>
                  </a:moveTo>
                  <a:lnTo>
                    <a:pt x="647700" y="166418"/>
                  </a:lnTo>
                  <a:lnTo>
                    <a:pt x="647700" y="366942"/>
                  </a:lnTo>
                  <a:lnTo>
                    <a:pt x="239373" y="366942"/>
                  </a:lnTo>
                  <a:lnTo>
                    <a:pt x="302255" y="533400"/>
                  </a:lnTo>
                  <a:lnTo>
                    <a:pt x="0" y="266700"/>
                  </a:lnTo>
                  <a:lnTo>
                    <a:pt x="302255" y="0"/>
                  </a:lnTo>
                  <a:lnTo>
                    <a:pt x="239386" y="166418"/>
                  </a:lnTo>
                  <a:close/>
                </a:path>
              </a:pathLst>
            </a:custGeom>
            <a:solidFill>
              <a:srgbClr val="4A44BD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120650" y="127000"/>
              <a:ext cx="527050" cy="241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 rot="-10800000">
            <a:off x="754305" y="4227507"/>
            <a:ext cx="548790" cy="451945"/>
            <a:chOff x="0" y="0"/>
            <a:chExt cx="647700" cy="5334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647700" cy="533400"/>
            </a:xfrm>
            <a:custGeom>
              <a:avLst/>
              <a:gdLst/>
              <a:ahLst/>
              <a:cxnLst/>
              <a:rect l="l" t="t" r="r" b="b"/>
              <a:pathLst>
                <a:path w="647700" h="533400">
                  <a:moveTo>
                    <a:pt x="239386" y="166418"/>
                  </a:moveTo>
                  <a:lnTo>
                    <a:pt x="647700" y="166418"/>
                  </a:lnTo>
                  <a:lnTo>
                    <a:pt x="647700" y="366942"/>
                  </a:lnTo>
                  <a:lnTo>
                    <a:pt x="239373" y="366942"/>
                  </a:lnTo>
                  <a:lnTo>
                    <a:pt x="302255" y="533400"/>
                  </a:lnTo>
                  <a:lnTo>
                    <a:pt x="0" y="266700"/>
                  </a:lnTo>
                  <a:lnTo>
                    <a:pt x="302255" y="0"/>
                  </a:lnTo>
                  <a:lnTo>
                    <a:pt x="239386" y="166418"/>
                  </a:lnTo>
                  <a:close/>
                </a:path>
              </a:pathLst>
            </a:custGeom>
            <a:solidFill>
              <a:srgbClr val="4A44BD"/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120650" y="127000"/>
              <a:ext cx="527050" cy="241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sp>
        <p:nvSpPr>
          <p:cNvPr id="18" name="TextBox 8"/>
          <p:cNvSpPr txBox="1"/>
          <p:nvPr/>
        </p:nvSpPr>
        <p:spPr>
          <a:xfrm>
            <a:off x="1451228" y="5034955"/>
            <a:ext cx="14093572" cy="7181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sz="45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Sprint 4: Kiểm thử và đóng gói Docker.</a:t>
            </a:r>
          </a:p>
        </p:txBody>
      </p:sp>
      <p:grpSp>
        <p:nvGrpSpPr>
          <p:cNvPr id="19" name="Group 15"/>
          <p:cNvGrpSpPr/>
          <p:nvPr/>
        </p:nvGrpSpPr>
        <p:grpSpPr>
          <a:xfrm rot="-10800000">
            <a:off x="754305" y="5262461"/>
            <a:ext cx="548790" cy="451945"/>
            <a:chOff x="0" y="0"/>
            <a:chExt cx="647700" cy="533400"/>
          </a:xfrm>
        </p:grpSpPr>
        <p:sp>
          <p:nvSpPr>
            <p:cNvPr id="20" name="Freeform 16"/>
            <p:cNvSpPr/>
            <p:nvPr/>
          </p:nvSpPr>
          <p:spPr>
            <a:xfrm>
              <a:off x="0" y="0"/>
              <a:ext cx="647700" cy="533400"/>
            </a:xfrm>
            <a:custGeom>
              <a:avLst/>
              <a:gdLst/>
              <a:ahLst/>
              <a:cxnLst/>
              <a:rect l="l" t="t" r="r" b="b"/>
              <a:pathLst>
                <a:path w="647700" h="533400">
                  <a:moveTo>
                    <a:pt x="239386" y="166418"/>
                  </a:moveTo>
                  <a:lnTo>
                    <a:pt x="647700" y="166418"/>
                  </a:lnTo>
                  <a:lnTo>
                    <a:pt x="647700" y="366942"/>
                  </a:lnTo>
                  <a:lnTo>
                    <a:pt x="239373" y="366942"/>
                  </a:lnTo>
                  <a:lnTo>
                    <a:pt x="302255" y="533400"/>
                  </a:lnTo>
                  <a:lnTo>
                    <a:pt x="0" y="266700"/>
                  </a:lnTo>
                  <a:lnTo>
                    <a:pt x="302255" y="0"/>
                  </a:lnTo>
                  <a:lnTo>
                    <a:pt x="239386" y="166418"/>
                  </a:lnTo>
                  <a:close/>
                </a:path>
              </a:pathLst>
            </a:custGeom>
            <a:solidFill>
              <a:srgbClr val="4A44BD"/>
            </a:solidFill>
          </p:spPr>
        </p:sp>
        <p:sp>
          <p:nvSpPr>
            <p:cNvPr id="21" name="TextBox 17"/>
            <p:cNvSpPr txBox="1"/>
            <p:nvPr/>
          </p:nvSpPr>
          <p:spPr>
            <a:xfrm>
              <a:off x="120650" y="127000"/>
              <a:ext cx="527050" cy="241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9785870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0800000">
            <a:off x="15124683" y="0"/>
            <a:ext cx="6326633" cy="3163317"/>
          </a:xfrm>
          <a:custGeom>
            <a:avLst/>
            <a:gdLst/>
            <a:ahLst/>
            <a:cxnLst/>
            <a:rect l="l" t="t" r="r" b="b"/>
            <a:pathLst>
              <a:path w="6326633" h="3163317">
                <a:moveTo>
                  <a:pt x="0" y="0"/>
                </a:moveTo>
                <a:lnTo>
                  <a:pt x="6326634" y="0"/>
                </a:lnTo>
                <a:lnTo>
                  <a:pt x="6326634" y="3163317"/>
                </a:lnTo>
                <a:lnTo>
                  <a:pt x="0" y="316331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AutoShape 3"/>
          <p:cNvSpPr/>
          <p:nvPr/>
        </p:nvSpPr>
        <p:spPr>
          <a:xfrm>
            <a:off x="1028700" y="5717226"/>
            <a:ext cx="987500" cy="0"/>
          </a:xfrm>
          <a:prstGeom prst="line">
            <a:avLst/>
          </a:prstGeom>
          <a:ln w="28575" cap="flat">
            <a:solidFill>
              <a:srgbClr val="C0E4F6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Freeform 4"/>
          <p:cNvSpPr/>
          <p:nvPr/>
        </p:nvSpPr>
        <p:spPr>
          <a:xfrm>
            <a:off x="159942" y="9547355"/>
            <a:ext cx="17968116" cy="573730"/>
          </a:xfrm>
          <a:custGeom>
            <a:avLst/>
            <a:gdLst/>
            <a:ahLst/>
            <a:cxnLst/>
            <a:rect l="l" t="t" r="r" b="b"/>
            <a:pathLst>
              <a:path w="17968116" h="573730">
                <a:moveTo>
                  <a:pt x="0" y="0"/>
                </a:moveTo>
                <a:lnTo>
                  <a:pt x="17968116" y="0"/>
                </a:lnTo>
                <a:lnTo>
                  <a:pt x="17968116" y="573730"/>
                </a:lnTo>
                <a:lnTo>
                  <a:pt x="0" y="57373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5170" t="-31148" r="-1846" b="-15442"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17476642" y="9635783"/>
            <a:ext cx="651416" cy="6946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4A44BD"/>
                </a:solidFill>
                <a:latin typeface="Noto Sans"/>
                <a:ea typeface="Noto Sans"/>
                <a:cs typeface="Noto Sans"/>
                <a:sym typeface="Noto Sans"/>
              </a:rPr>
              <a:t>08</a:t>
            </a:r>
          </a:p>
          <a:p>
            <a:pPr algn="ctr">
              <a:lnSpc>
                <a:spcPts val="2800"/>
              </a:lnSpc>
            </a:pPr>
            <a:endParaRPr lang="en-US" sz="2000">
              <a:solidFill>
                <a:srgbClr val="4A44BD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-152400" y="603451"/>
            <a:ext cx="19659600" cy="119263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917573" lvl="1" algn="l">
              <a:lnSpc>
                <a:spcPts val="9349"/>
              </a:lnSpc>
            </a:pPr>
            <a:r>
              <a:rPr lang="en-US" sz="8000" b="1" spc="-169">
                <a:solidFill>
                  <a:srgbClr val="4A44BD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7. Thiết kế &amp; kiến trúc hệ thống (1/4)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500216" y="2001905"/>
            <a:ext cx="14269925" cy="6794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sz="3999" b="1">
                <a:solidFill>
                  <a:srgbClr val="4A44BD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Công nghệ sử dụng</a:t>
            </a:r>
          </a:p>
        </p:txBody>
      </p:sp>
      <p:sp>
        <p:nvSpPr>
          <p:cNvPr id="9" name="TextBox 7"/>
          <p:cNvSpPr txBox="1"/>
          <p:nvPr/>
        </p:nvSpPr>
        <p:spPr>
          <a:xfrm>
            <a:off x="1522450" y="2886322"/>
            <a:ext cx="4725950" cy="25135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899"/>
              </a:lnSpc>
            </a:pPr>
            <a:r>
              <a:rPr lang="en-US" sz="3499">
                <a:solidFill>
                  <a:srgbClr val="000000"/>
                </a:solidFill>
                <a:ea typeface="Open Sans"/>
                <a:cs typeface="Open Sans"/>
                <a:sym typeface="Open Sans"/>
              </a:rPr>
              <a:t>Frontend: </a:t>
            </a:r>
            <a:r>
              <a:rPr lang="en-US" sz="3600"/>
              <a:t>ReactJS</a:t>
            </a:r>
            <a:endParaRPr lang="en-US" sz="3499">
              <a:solidFill>
                <a:srgbClr val="000000"/>
              </a:solidFill>
              <a:ea typeface="Open Sans"/>
              <a:cs typeface="Open Sans"/>
              <a:sym typeface="Open Sans"/>
            </a:endParaRPr>
          </a:p>
          <a:p>
            <a:pPr>
              <a:lnSpc>
                <a:spcPts val="4899"/>
              </a:lnSpc>
            </a:pPr>
            <a:r>
              <a:rPr lang="en-US" sz="3499">
                <a:solidFill>
                  <a:srgbClr val="000000"/>
                </a:solidFill>
                <a:ea typeface="Open Sans"/>
                <a:cs typeface="Open Sans"/>
                <a:sym typeface="Open Sans"/>
              </a:rPr>
              <a:t>Backend: </a:t>
            </a:r>
            <a:r>
              <a:rPr lang="en-US" sz="3600"/>
              <a:t>NodeJS</a:t>
            </a:r>
            <a:endParaRPr lang="en-US" sz="3499">
              <a:solidFill>
                <a:srgbClr val="000000"/>
              </a:solidFill>
              <a:ea typeface="Open Sans"/>
              <a:cs typeface="Open Sans"/>
              <a:sym typeface="Open Sans"/>
            </a:endParaRPr>
          </a:p>
          <a:p>
            <a:pPr>
              <a:lnSpc>
                <a:spcPts val="4899"/>
              </a:lnSpc>
            </a:pPr>
            <a:r>
              <a:rPr lang="en-US" sz="3499">
                <a:solidFill>
                  <a:srgbClr val="000000"/>
                </a:solidFill>
                <a:ea typeface="Open Sans"/>
                <a:cs typeface="Open Sans"/>
                <a:sym typeface="Open Sans"/>
              </a:rPr>
              <a:t>Database: </a:t>
            </a:r>
            <a:r>
              <a:rPr lang="en-US" sz="3600"/>
              <a:t>PostgreSQL</a:t>
            </a:r>
            <a:endParaRPr lang="en-US" sz="3499">
              <a:solidFill>
                <a:srgbClr val="000000"/>
              </a:solidFill>
              <a:ea typeface="Open Sans"/>
              <a:cs typeface="Open Sans"/>
              <a:sym typeface="Open Sans"/>
            </a:endParaRPr>
          </a:p>
          <a:p>
            <a:pPr algn="l">
              <a:lnSpc>
                <a:spcPts val="4899"/>
              </a:lnSpc>
            </a:pPr>
            <a:endParaRPr lang="en-US" sz="3499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7000" y="2761555"/>
            <a:ext cx="10058400" cy="67056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0800000">
            <a:off x="15124683" y="0"/>
            <a:ext cx="6326633" cy="3163317"/>
          </a:xfrm>
          <a:custGeom>
            <a:avLst/>
            <a:gdLst/>
            <a:ahLst/>
            <a:cxnLst/>
            <a:rect l="l" t="t" r="r" b="b"/>
            <a:pathLst>
              <a:path w="6326633" h="3163317">
                <a:moveTo>
                  <a:pt x="0" y="0"/>
                </a:moveTo>
                <a:lnTo>
                  <a:pt x="6326634" y="0"/>
                </a:lnTo>
                <a:lnTo>
                  <a:pt x="6326634" y="3163317"/>
                </a:lnTo>
                <a:lnTo>
                  <a:pt x="0" y="316331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AutoShape 3"/>
          <p:cNvSpPr/>
          <p:nvPr/>
        </p:nvSpPr>
        <p:spPr>
          <a:xfrm>
            <a:off x="1028700" y="5717226"/>
            <a:ext cx="987500" cy="0"/>
          </a:xfrm>
          <a:prstGeom prst="line">
            <a:avLst/>
          </a:prstGeom>
          <a:ln w="28575" cap="flat">
            <a:solidFill>
              <a:srgbClr val="C0E4F6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Freeform 4"/>
          <p:cNvSpPr/>
          <p:nvPr/>
        </p:nvSpPr>
        <p:spPr>
          <a:xfrm>
            <a:off x="159942" y="9547355"/>
            <a:ext cx="17968116" cy="573730"/>
          </a:xfrm>
          <a:custGeom>
            <a:avLst/>
            <a:gdLst/>
            <a:ahLst/>
            <a:cxnLst/>
            <a:rect l="l" t="t" r="r" b="b"/>
            <a:pathLst>
              <a:path w="17968116" h="573730">
                <a:moveTo>
                  <a:pt x="0" y="0"/>
                </a:moveTo>
                <a:lnTo>
                  <a:pt x="17968116" y="0"/>
                </a:lnTo>
                <a:lnTo>
                  <a:pt x="17968116" y="573730"/>
                </a:lnTo>
                <a:lnTo>
                  <a:pt x="0" y="57373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5170" t="-31148" r="-1846" b="-15442"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17476642" y="9635783"/>
            <a:ext cx="651416" cy="7181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4A44BD"/>
                </a:solidFill>
                <a:latin typeface="Noto Sans"/>
                <a:ea typeface="Noto Sans"/>
                <a:cs typeface="Noto Sans"/>
                <a:sym typeface="Noto Sans"/>
              </a:rPr>
              <a:t>09</a:t>
            </a:r>
          </a:p>
          <a:p>
            <a:pPr algn="ctr">
              <a:lnSpc>
                <a:spcPts val="2800"/>
              </a:lnSpc>
            </a:pPr>
            <a:endParaRPr lang="en-US" sz="2000">
              <a:solidFill>
                <a:srgbClr val="4A44BD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-152400" y="603451"/>
            <a:ext cx="19659600" cy="119263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917573" lvl="1" algn="l">
              <a:lnSpc>
                <a:spcPts val="9349"/>
              </a:lnSpc>
            </a:pPr>
            <a:r>
              <a:rPr lang="en-US" sz="8000" b="1" spc="-169">
                <a:solidFill>
                  <a:srgbClr val="4A44BD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8. Thiết kế &amp; kiến trúc hệ thống (2/4)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500216" y="2001905"/>
            <a:ext cx="14269925" cy="6794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sz="3999" b="1">
                <a:solidFill>
                  <a:srgbClr val="4A44BD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Kiến trúc tổng thể hệ thống</a:t>
            </a:r>
          </a:p>
        </p:txBody>
      </p:sp>
      <p:sp>
        <p:nvSpPr>
          <p:cNvPr id="9" name="TextBox 7"/>
          <p:cNvSpPr txBox="1"/>
          <p:nvPr/>
        </p:nvSpPr>
        <p:spPr>
          <a:xfrm>
            <a:off x="1522450" y="2886322"/>
            <a:ext cx="4725950" cy="69121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899"/>
              </a:lnSpc>
            </a:pPr>
            <a:r>
              <a:rPr lang="en-US" sz="3499">
                <a:solidFill>
                  <a:srgbClr val="000000"/>
                </a:solidFill>
                <a:ea typeface="Open Sans"/>
                <a:cs typeface="Open Sans"/>
                <a:sym typeface="Open Sans"/>
              </a:rPr>
              <a:t>Áp dụng kiến trúc Client  và Server phân tách.</a:t>
            </a:r>
          </a:p>
          <a:p>
            <a:pPr>
              <a:lnSpc>
                <a:spcPts val="4899"/>
              </a:lnSpc>
            </a:pPr>
            <a:r>
              <a:rPr lang="en-US" sz="3499">
                <a:solidFill>
                  <a:srgbClr val="000000"/>
                </a:solidFill>
                <a:ea typeface="Open Sans"/>
                <a:cs typeface="Open Sans"/>
                <a:sym typeface="Open Sans"/>
              </a:rPr>
              <a:t>Frontend gửi yêu cầu qua giao thức HTTP.</a:t>
            </a:r>
          </a:p>
          <a:p>
            <a:pPr>
              <a:lnSpc>
                <a:spcPts val="4899"/>
              </a:lnSpc>
            </a:pPr>
            <a:r>
              <a:rPr lang="en-US" sz="3499">
                <a:solidFill>
                  <a:srgbClr val="000000"/>
                </a:solidFill>
                <a:ea typeface="Open Sans"/>
                <a:cs typeface="Open Sans"/>
                <a:sym typeface="Open Sans"/>
              </a:rPr>
              <a:t>Backend xử lý logic và xác thực token.</a:t>
            </a:r>
          </a:p>
          <a:p>
            <a:pPr>
              <a:lnSpc>
                <a:spcPts val="4899"/>
              </a:lnSpc>
            </a:pPr>
            <a:r>
              <a:rPr lang="en-US" sz="3499">
                <a:solidFill>
                  <a:srgbClr val="000000"/>
                </a:solidFill>
                <a:ea typeface="Open Sans"/>
                <a:cs typeface="Open Sans"/>
                <a:sym typeface="Open Sans"/>
              </a:rPr>
              <a:t>Database truy vấn và trả dữ liệu về Server.</a:t>
            </a:r>
          </a:p>
          <a:p>
            <a:pPr>
              <a:lnSpc>
                <a:spcPts val="4899"/>
              </a:lnSpc>
            </a:pPr>
            <a:r>
              <a:rPr lang="en-US" sz="3499">
                <a:solidFill>
                  <a:srgbClr val="000000"/>
                </a:solidFill>
                <a:ea typeface="Open Sans"/>
                <a:cs typeface="Open Sans"/>
                <a:sym typeface="Open Sans"/>
              </a:rPr>
              <a:t>Server phản hồi dữ liệu JSON cho Client.</a:t>
            </a:r>
          </a:p>
          <a:p>
            <a:pPr algn="l">
              <a:lnSpc>
                <a:spcPts val="4899"/>
              </a:lnSpc>
            </a:pPr>
            <a:endParaRPr lang="en-US" sz="3499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3200" y="2714459"/>
            <a:ext cx="10058400" cy="670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38908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0800000">
            <a:off x="15124683" y="0"/>
            <a:ext cx="6326633" cy="3163317"/>
          </a:xfrm>
          <a:custGeom>
            <a:avLst/>
            <a:gdLst/>
            <a:ahLst/>
            <a:cxnLst/>
            <a:rect l="l" t="t" r="r" b="b"/>
            <a:pathLst>
              <a:path w="6326633" h="3163317">
                <a:moveTo>
                  <a:pt x="0" y="0"/>
                </a:moveTo>
                <a:lnTo>
                  <a:pt x="6326634" y="0"/>
                </a:lnTo>
                <a:lnTo>
                  <a:pt x="6326634" y="3163317"/>
                </a:lnTo>
                <a:lnTo>
                  <a:pt x="0" y="316331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AutoShape 3"/>
          <p:cNvSpPr/>
          <p:nvPr/>
        </p:nvSpPr>
        <p:spPr>
          <a:xfrm>
            <a:off x="1028700" y="5717226"/>
            <a:ext cx="987500" cy="0"/>
          </a:xfrm>
          <a:prstGeom prst="line">
            <a:avLst/>
          </a:prstGeom>
          <a:ln w="28575" cap="flat">
            <a:solidFill>
              <a:srgbClr val="C0E4F6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Freeform 4"/>
          <p:cNvSpPr/>
          <p:nvPr/>
        </p:nvSpPr>
        <p:spPr>
          <a:xfrm>
            <a:off x="159942" y="9547355"/>
            <a:ext cx="17968116" cy="573730"/>
          </a:xfrm>
          <a:custGeom>
            <a:avLst/>
            <a:gdLst/>
            <a:ahLst/>
            <a:cxnLst/>
            <a:rect l="l" t="t" r="r" b="b"/>
            <a:pathLst>
              <a:path w="17968116" h="573730">
                <a:moveTo>
                  <a:pt x="0" y="0"/>
                </a:moveTo>
                <a:lnTo>
                  <a:pt x="17968116" y="0"/>
                </a:lnTo>
                <a:lnTo>
                  <a:pt x="17968116" y="573730"/>
                </a:lnTo>
                <a:lnTo>
                  <a:pt x="0" y="57373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5170" t="-31148" r="-1846" b="-15442"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17476642" y="9635783"/>
            <a:ext cx="651416" cy="7181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4A44BD"/>
                </a:solidFill>
                <a:latin typeface="Noto Sans"/>
                <a:ea typeface="Noto Sans"/>
                <a:cs typeface="Noto Sans"/>
                <a:sym typeface="Noto Sans"/>
              </a:rPr>
              <a:t>10</a:t>
            </a:r>
          </a:p>
          <a:p>
            <a:pPr algn="ctr">
              <a:lnSpc>
                <a:spcPts val="2800"/>
              </a:lnSpc>
            </a:pPr>
            <a:endParaRPr lang="en-US" sz="2000">
              <a:solidFill>
                <a:srgbClr val="4A44BD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-152400" y="603451"/>
            <a:ext cx="19659600" cy="119263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917573" lvl="1" algn="l">
              <a:lnSpc>
                <a:spcPts val="9349"/>
              </a:lnSpc>
            </a:pPr>
            <a:r>
              <a:rPr lang="en-US" sz="8000" b="1" spc="-169">
                <a:solidFill>
                  <a:srgbClr val="4A44BD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9. Thiết kế &amp; kiến trúc hệ thống (3/4)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500216" y="2001905"/>
            <a:ext cx="14269925" cy="6794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sz="3999" b="1">
                <a:solidFill>
                  <a:srgbClr val="4A44BD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Thiết kế cơ sở dữ liệu</a:t>
            </a:r>
          </a:p>
        </p:txBody>
      </p:sp>
      <p:sp>
        <p:nvSpPr>
          <p:cNvPr id="9" name="TextBox 7"/>
          <p:cNvSpPr txBox="1"/>
          <p:nvPr/>
        </p:nvSpPr>
        <p:spPr>
          <a:xfrm>
            <a:off x="1522450" y="2886322"/>
            <a:ext cx="5335550" cy="50270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899"/>
              </a:lnSpc>
            </a:pPr>
            <a:r>
              <a:rPr lang="en-US" sz="3499">
                <a:solidFill>
                  <a:srgbClr val="000000"/>
                </a:solidFill>
                <a:ea typeface="Open Sans"/>
                <a:cs typeface="Open Sans"/>
                <a:sym typeface="Open Sans"/>
              </a:rPr>
              <a:t>Bảng user lưu thông tin và vai trò.</a:t>
            </a:r>
          </a:p>
          <a:p>
            <a:pPr>
              <a:lnSpc>
                <a:spcPts val="4899"/>
              </a:lnSpc>
            </a:pPr>
            <a:r>
              <a:rPr lang="en-US" sz="3499">
                <a:solidFill>
                  <a:srgbClr val="000000"/>
                </a:solidFill>
                <a:ea typeface="Open Sans"/>
                <a:cs typeface="Open Sans"/>
                <a:sym typeface="Open Sans"/>
              </a:rPr>
              <a:t>Bảng Candidate và Company lưu hồ sơ chi tiết.</a:t>
            </a:r>
          </a:p>
          <a:p>
            <a:pPr algn="l">
              <a:lnSpc>
                <a:spcPts val="4899"/>
              </a:lnSpc>
            </a:pPr>
            <a:r>
              <a:rPr lang="en-US" sz="34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Bảng Job lưu tin tuyển dụng và danh mục.</a:t>
            </a:r>
          </a:p>
          <a:p>
            <a:pPr algn="l">
              <a:lnSpc>
                <a:spcPts val="4899"/>
              </a:lnSpc>
            </a:pPr>
            <a:r>
              <a:rPr lang="en-US" sz="34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Bảng JobApplication quản lý quá trình nộp CV.</a:t>
            </a:r>
          </a:p>
        </p:txBody>
      </p:sp>
      <p:pic>
        <p:nvPicPr>
          <p:cNvPr id="1026" name="Picture 2" descr="Viec_lam_24h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41851" y="2399537"/>
            <a:ext cx="9022040" cy="6914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329866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0800000">
            <a:off x="15124683" y="0"/>
            <a:ext cx="6326633" cy="3163317"/>
          </a:xfrm>
          <a:custGeom>
            <a:avLst/>
            <a:gdLst/>
            <a:ahLst/>
            <a:cxnLst/>
            <a:rect l="l" t="t" r="r" b="b"/>
            <a:pathLst>
              <a:path w="6326633" h="3163317">
                <a:moveTo>
                  <a:pt x="0" y="0"/>
                </a:moveTo>
                <a:lnTo>
                  <a:pt x="6326634" y="0"/>
                </a:lnTo>
                <a:lnTo>
                  <a:pt x="6326634" y="3163317"/>
                </a:lnTo>
                <a:lnTo>
                  <a:pt x="0" y="316331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AutoShape 3"/>
          <p:cNvSpPr/>
          <p:nvPr/>
        </p:nvSpPr>
        <p:spPr>
          <a:xfrm>
            <a:off x="1028700" y="5717226"/>
            <a:ext cx="987500" cy="0"/>
          </a:xfrm>
          <a:prstGeom prst="line">
            <a:avLst/>
          </a:prstGeom>
          <a:ln w="28575" cap="flat">
            <a:solidFill>
              <a:srgbClr val="C0E4F6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Freeform 4"/>
          <p:cNvSpPr/>
          <p:nvPr/>
        </p:nvSpPr>
        <p:spPr>
          <a:xfrm>
            <a:off x="159942" y="9547355"/>
            <a:ext cx="17968116" cy="573730"/>
          </a:xfrm>
          <a:custGeom>
            <a:avLst/>
            <a:gdLst/>
            <a:ahLst/>
            <a:cxnLst/>
            <a:rect l="l" t="t" r="r" b="b"/>
            <a:pathLst>
              <a:path w="17968116" h="573730">
                <a:moveTo>
                  <a:pt x="0" y="0"/>
                </a:moveTo>
                <a:lnTo>
                  <a:pt x="17968116" y="0"/>
                </a:lnTo>
                <a:lnTo>
                  <a:pt x="17968116" y="573730"/>
                </a:lnTo>
                <a:lnTo>
                  <a:pt x="0" y="57373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5170" t="-31148" r="-1846" b="-15442"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17476642" y="9635783"/>
            <a:ext cx="651416" cy="7181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4A44BD"/>
                </a:solidFill>
                <a:latin typeface="Noto Sans"/>
                <a:ea typeface="Noto Sans"/>
                <a:cs typeface="Noto Sans"/>
                <a:sym typeface="Noto Sans"/>
              </a:rPr>
              <a:t>11</a:t>
            </a:r>
          </a:p>
          <a:p>
            <a:pPr algn="ctr">
              <a:lnSpc>
                <a:spcPts val="2800"/>
              </a:lnSpc>
            </a:pPr>
            <a:endParaRPr lang="en-US" sz="2000">
              <a:solidFill>
                <a:srgbClr val="4A44BD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-152400" y="603451"/>
            <a:ext cx="19659600" cy="119263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917573" lvl="1" algn="l">
              <a:lnSpc>
                <a:spcPts val="9349"/>
              </a:lnSpc>
            </a:pPr>
            <a:r>
              <a:rPr lang="en-US" sz="8000" b="1" spc="-169">
                <a:solidFill>
                  <a:srgbClr val="4A44BD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10. Thiết kế &amp; kiến trúc hệ thống (4/4)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500216" y="2001905"/>
            <a:ext cx="14269925" cy="6794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sz="3999" b="1">
                <a:solidFill>
                  <a:srgbClr val="4A44BD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Xây dựng Restful API</a:t>
            </a:r>
          </a:p>
        </p:txBody>
      </p:sp>
      <p:sp>
        <p:nvSpPr>
          <p:cNvPr id="9" name="TextBox 7"/>
          <p:cNvSpPr txBox="1"/>
          <p:nvPr/>
        </p:nvSpPr>
        <p:spPr>
          <a:xfrm>
            <a:off x="1522450" y="2886322"/>
            <a:ext cx="5335550" cy="50270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899"/>
              </a:lnSpc>
            </a:pPr>
            <a:r>
              <a:rPr lang="en-US" sz="3499">
                <a:solidFill>
                  <a:srgbClr val="000000"/>
                </a:solidFill>
                <a:ea typeface="Open Sans"/>
                <a:cs typeface="Open Sans"/>
                <a:sym typeface="Open Sans"/>
              </a:rPr>
              <a:t>Auth API: Đăng ký, đăng nhập và Google Auth.</a:t>
            </a:r>
          </a:p>
          <a:p>
            <a:pPr>
              <a:lnSpc>
                <a:spcPts val="4899"/>
              </a:lnSpc>
            </a:pPr>
            <a:r>
              <a:rPr lang="en-US" sz="34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Candidate API: Cập nhật hồ sơ và tải CV.</a:t>
            </a:r>
          </a:p>
          <a:p>
            <a:pPr>
              <a:lnSpc>
                <a:spcPts val="4899"/>
              </a:lnSpc>
            </a:pPr>
            <a:r>
              <a:rPr lang="en-US" sz="34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Job API: Tạo sửa, xóa và lọc tin.</a:t>
            </a:r>
          </a:p>
          <a:p>
            <a:pPr>
              <a:lnSpc>
                <a:spcPts val="4899"/>
              </a:lnSpc>
            </a:pPr>
            <a:r>
              <a:rPr lang="en-US" sz="34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Application API: Nộp CV và cập nhật trạng thái.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7813531"/>
              </p:ext>
            </p:extLst>
          </p:nvPr>
        </p:nvGraphicFramePr>
        <p:xfrm>
          <a:off x="7086600" y="4083438"/>
          <a:ext cx="10889058" cy="409403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2873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606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4105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023462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3000">
                          <a:effectLst/>
                        </a:rPr>
                        <a:t>Phương thức</a:t>
                      </a:r>
                      <a:endParaRPr lang="en-US" sz="30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3000">
                          <a:effectLst/>
                        </a:rPr>
                        <a:t>GET</a:t>
                      </a:r>
                      <a:endParaRPr lang="en-US" sz="30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3692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3000">
                          <a:effectLst/>
                        </a:rPr>
                        <a:t>Endpoint</a:t>
                      </a:r>
                      <a:endParaRPr lang="en-US" sz="30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3000">
                          <a:effectLst/>
                        </a:rPr>
                        <a:t>{API_DOMAIN}/auth/google</a:t>
                      </a:r>
                      <a:endParaRPr lang="en-US" sz="30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06508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3000">
                          <a:effectLst/>
                        </a:rPr>
                        <a:t>Thuộc tính</a:t>
                      </a:r>
                      <a:endParaRPr lang="en-US" sz="30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3000">
                          <a:effectLst/>
                        </a:rPr>
                        <a:t>email</a:t>
                      </a:r>
                      <a:endParaRPr lang="en-US" sz="30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3000">
                          <a:effectLst/>
                        </a:rPr>
                        <a:t>Email để đăng nhập</a:t>
                      </a:r>
                      <a:endParaRPr lang="en-US" sz="30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70375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3000">
                          <a:effectLst/>
                        </a:rPr>
                        <a:t>Diễn giải</a:t>
                      </a:r>
                      <a:endParaRPr lang="en-US" sz="30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3000">
                          <a:effectLst/>
                        </a:rPr>
                        <a:t>API dùng để chuyển tiếp người dùng đến trang đăng nhập của Google</a:t>
                      </a:r>
                      <a:endParaRPr lang="en-US" sz="30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244010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59942" y="9547355"/>
            <a:ext cx="17968116" cy="573730"/>
          </a:xfrm>
          <a:custGeom>
            <a:avLst/>
            <a:gdLst/>
            <a:ahLst/>
            <a:cxnLst/>
            <a:rect l="l" t="t" r="r" b="b"/>
            <a:pathLst>
              <a:path w="17968116" h="573730">
                <a:moveTo>
                  <a:pt x="0" y="0"/>
                </a:moveTo>
                <a:lnTo>
                  <a:pt x="17968116" y="0"/>
                </a:lnTo>
                <a:lnTo>
                  <a:pt x="17968116" y="573730"/>
                </a:lnTo>
                <a:lnTo>
                  <a:pt x="0" y="57373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5170" t="-31148" r="-1846" b="-15442"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7476642" y="9635783"/>
            <a:ext cx="651416" cy="7181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4A44BD"/>
                </a:solidFill>
                <a:latin typeface="Noto Sans"/>
                <a:ea typeface="Noto Sans"/>
                <a:cs typeface="Noto Sans"/>
                <a:sym typeface="Noto Sans"/>
              </a:rPr>
              <a:t>12</a:t>
            </a:r>
          </a:p>
          <a:p>
            <a:pPr algn="ctr">
              <a:lnSpc>
                <a:spcPts val="2800"/>
              </a:lnSpc>
            </a:pPr>
            <a:endParaRPr lang="en-US" sz="2000">
              <a:solidFill>
                <a:srgbClr val="4A44BD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59623" y="603451"/>
            <a:ext cx="19652377" cy="11038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917573" lvl="1" algn="l">
              <a:lnSpc>
                <a:spcPts val="9349"/>
              </a:lnSpc>
            </a:pPr>
            <a:r>
              <a:rPr lang="en-US" sz="7500" b="1" spc="-169">
                <a:solidFill>
                  <a:srgbClr val="4A44BD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11. Hiện thực hóa &amp; giao diện ứng dụng</a:t>
            </a:r>
          </a:p>
        </p:txBody>
      </p:sp>
      <p:sp>
        <p:nvSpPr>
          <p:cNvPr id="9" name="TextBox 6"/>
          <p:cNvSpPr txBox="1"/>
          <p:nvPr/>
        </p:nvSpPr>
        <p:spPr>
          <a:xfrm>
            <a:off x="1752600" y="1790700"/>
            <a:ext cx="14278966" cy="7181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sz="35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Giao diện ứng viên: Tìm việc và nộp CV</a:t>
            </a:r>
          </a:p>
        </p:txBody>
      </p:sp>
      <p:grpSp>
        <p:nvGrpSpPr>
          <p:cNvPr id="10" name="Group 9"/>
          <p:cNvGrpSpPr/>
          <p:nvPr/>
        </p:nvGrpSpPr>
        <p:grpSpPr>
          <a:xfrm rot="-10800000">
            <a:off x="1055677" y="2018206"/>
            <a:ext cx="548790" cy="451945"/>
            <a:chOff x="0" y="0"/>
            <a:chExt cx="647700" cy="533400"/>
          </a:xfrm>
        </p:grpSpPr>
        <p:sp>
          <p:nvSpPr>
            <p:cNvPr id="11" name="Freeform 10"/>
            <p:cNvSpPr/>
            <p:nvPr/>
          </p:nvSpPr>
          <p:spPr>
            <a:xfrm>
              <a:off x="0" y="0"/>
              <a:ext cx="647700" cy="533400"/>
            </a:xfrm>
            <a:custGeom>
              <a:avLst/>
              <a:gdLst/>
              <a:ahLst/>
              <a:cxnLst/>
              <a:rect l="l" t="t" r="r" b="b"/>
              <a:pathLst>
                <a:path w="647700" h="533400">
                  <a:moveTo>
                    <a:pt x="239386" y="166418"/>
                  </a:moveTo>
                  <a:lnTo>
                    <a:pt x="647700" y="166418"/>
                  </a:lnTo>
                  <a:lnTo>
                    <a:pt x="647700" y="366942"/>
                  </a:lnTo>
                  <a:lnTo>
                    <a:pt x="239373" y="366942"/>
                  </a:lnTo>
                  <a:lnTo>
                    <a:pt x="302255" y="533400"/>
                  </a:lnTo>
                  <a:lnTo>
                    <a:pt x="0" y="266700"/>
                  </a:lnTo>
                  <a:lnTo>
                    <a:pt x="302255" y="0"/>
                  </a:lnTo>
                  <a:lnTo>
                    <a:pt x="239386" y="166418"/>
                  </a:lnTo>
                  <a:close/>
                </a:path>
              </a:pathLst>
            </a:custGeom>
            <a:solidFill>
              <a:srgbClr val="4A44BD"/>
            </a:solidFill>
          </p:spPr>
        </p:sp>
        <p:sp>
          <p:nvSpPr>
            <p:cNvPr id="12" name="TextBox 11"/>
            <p:cNvSpPr txBox="1"/>
            <p:nvPr/>
          </p:nvSpPr>
          <p:spPr>
            <a:xfrm>
              <a:off x="120650" y="127000"/>
              <a:ext cx="527050" cy="241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sp>
        <p:nvSpPr>
          <p:cNvPr id="17" name="TextBox 6"/>
          <p:cNvSpPr txBox="1"/>
          <p:nvPr/>
        </p:nvSpPr>
        <p:spPr>
          <a:xfrm>
            <a:off x="1723034" y="2324100"/>
            <a:ext cx="14278966" cy="7181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sz="35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Giao diện doanh nghiệp: Đăng tin và duyệt CV.</a:t>
            </a:r>
          </a:p>
        </p:txBody>
      </p:sp>
      <p:grpSp>
        <p:nvGrpSpPr>
          <p:cNvPr id="18" name="Group 9"/>
          <p:cNvGrpSpPr/>
          <p:nvPr/>
        </p:nvGrpSpPr>
        <p:grpSpPr>
          <a:xfrm rot="-10800000">
            <a:off x="1026111" y="2551606"/>
            <a:ext cx="548790" cy="451945"/>
            <a:chOff x="0" y="0"/>
            <a:chExt cx="647700" cy="533400"/>
          </a:xfrm>
        </p:grpSpPr>
        <p:sp>
          <p:nvSpPr>
            <p:cNvPr id="19" name="Freeform 10"/>
            <p:cNvSpPr/>
            <p:nvPr/>
          </p:nvSpPr>
          <p:spPr>
            <a:xfrm>
              <a:off x="0" y="0"/>
              <a:ext cx="647700" cy="533400"/>
            </a:xfrm>
            <a:custGeom>
              <a:avLst/>
              <a:gdLst/>
              <a:ahLst/>
              <a:cxnLst/>
              <a:rect l="l" t="t" r="r" b="b"/>
              <a:pathLst>
                <a:path w="647700" h="533400">
                  <a:moveTo>
                    <a:pt x="239386" y="166418"/>
                  </a:moveTo>
                  <a:lnTo>
                    <a:pt x="647700" y="166418"/>
                  </a:lnTo>
                  <a:lnTo>
                    <a:pt x="647700" y="366942"/>
                  </a:lnTo>
                  <a:lnTo>
                    <a:pt x="239373" y="366942"/>
                  </a:lnTo>
                  <a:lnTo>
                    <a:pt x="302255" y="533400"/>
                  </a:lnTo>
                  <a:lnTo>
                    <a:pt x="0" y="266700"/>
                  </a:lnTo>
                  <a:lnTo>
                    <a:pt x="302255" y="0"/>
                  </a:lnTo>
                  <a:lnTo>
                    <a:pt x="239386" y="166418"/>
                  </a:lnTo>
                  <a:close/>
                </a:path>
              </a:pathLst>
            </a:custGeom>
            <a:solidFill>
              <a:srgbClr val="4A44BD"/>
            </a:solidFill>
          </p:spPr>
        </p:sp>
        <p:sp>
          <p:nvSpPr>
            <p:cNvPr id="20" name="TextBox 11"/>
            <p:cNvSpPr txBox="1"/>
            <p:nvPr/>
          </p:nvSpPr>
          <p:spPr>
            <a:xfrm>
              <a:off x="120650" y="127000"/>
              <a:ext cx="527050" cy="241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sp>
        <p:nvSpPr>
          <p:cNvPr id="21" name="TextBox 6"/>
          <p:cNvSpPr txBox="1"/>
          <p:nvPr/>
        </p:nvSpPr>
        <p:spPr>
          <a:xfrm>
            <a:off x="1723033" y="2857500"/>
            <a:ext cx="14278966" cy="7181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sz="35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Giao diện phản hồi và thân thiện.</a:t>
            </a:r>
          </a:p>
        </p:txBody>
      </p:sp>
      <p:grpSp>
        <p:nvGrpSpPr>
          <p:cNvPr id="22" name="Group 9"/>
          <p:cNvGrpSpPr/>
          <p:nvPr/>
        </p:nvGrpSpPr>
        <p:grpSpPr>
          <a:xfrm rot="-10800000">
            <a:off x="1026110" y="3085006"/>
            <a:ext cx="548790" cy="451945"/>
            <a:chOff x="0" y="0"/>
            <a:chExt cx="647700" cy="533400"/>
          </a:xfrm>
        </p:grpSpPr>
        <p:sp>
          <p:nvSpPr>
            <p:cNvPr id="23" name="Freeform 10"/>
            <p:cNvSpPr/>
            <p:nvPr/>
          </p:nvSpPr>
          <p:spPr>
            <a:xfrm>
              <a:off x="0" y="0"/>
              <a:ext cx="647700" cy="533400"/>
            </a:xfrm>
            <a:custGeom>
              <a:avLst/>
              <a:gdLst/>
              <a:ahLst/>
              <a:cxnLst/>
              <a:rect l="l" t="t" r="r" b="b"/>
              <a:pathLst>
                <a:path w="647700" h="533400">
                  <a:moveTo>
                    <a:pt x="239386" y="166418"/>
                  </a:moveTo>
                  <a:lnTo>
                    <a:pt x="647700" y="166418"/>
                  </a:lnTo>
                  <a:lnTo>
                    <a:pt x="647700" y="366942"/>
                  </a:lnTo>
                  <a:lnTo>
                    <a:pt x="239373" y="366942"/>
                  </a:lnTo>
                  <a:lnTo>
                    <a:pt x="302255" y="533400"/>
                  </a:lnTo>
                  <a:lnTo>
                    <a:pt x="0" y="266700"/>
                  </a:lnTo>
                  <a:lnTo>
                    <a:pt x="302255" y="0"/>
                  </a:lnTo>
                  <a:lnTo>
                    <a:pt x="239386" y="166418"/>
                  </a:lnTo>
                  <a:close/>
                </a:path>
              </a:pathLst>
            </a:custGeom>
            <a:solidFill>
              <a:srgbClr val="4A44BD"/>
            </a:solidFill>
          </p:spPr>
        </p:sp>
        <p:sp>
          <p:nvSpPr>
            <p:cNvPr id="24" name="TextBox 11"/>
            <p:cNvSpPr txBox="1"/>
            <p:nvPr/>
          </p:nvSpPr>
          <p:spPr>
            <a:xfrm>
              <a:off x="120650" y="127000"/>
              <a:ext cx="527050" cy="241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sp>
        <p:nvSpPr>
          <p:cNvPr id="25" name="TextBox 6"/>
          <p:cNvSpPr txBox="1"/>
          <p:nvPr/>
        </p:nvSpPr>
        <p:spPr>
          <a:xfrm>
            <a:off x="1723034" y="3499445"/>
            <a:ext cx="14278966" cy="7181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sz="35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Tương thích tốt trên nhiều thiết bị.</a:t>
            </a:r>
          </a:p>
        </p:txBody>
      </p:sp>
      <p:grpSp>
        <p:nvGrpSpPr>
          <p:cNvPr id="26" name="Group 9"/>
          <p:cNvGrpSpPr/>
          <p:nvPr/>
        </p:nvGrpSpPr>
        <p:grpSpPr>
          <a:xfrm rot="-10800000">
            <a:off x="1026111" y="3726951"/>
            <a:ext cx="548790" cy="451945"/>
            <a:chOff x="0" y="0"/>
            <a:chExt cx="647700" cy="533400"/>
          </a:xfrm>
        </p:grpSpPr>
        <p:sp>
          <p:nvSpPr>
            <p:cNvPr id="27" name="Freeform 10"/>
            <p:cNvSpPr/>
            <p:nvPr/>
          </p:nvSpPr>
          <p:spPr>
            <a:xfrm>
              <a:off x="0" y="0"/>
              <a:ext cx="647700" cy="533400"/>
            </a:xfrm>
            <a:custGeom>
              <a:avLst/>
              <a:gdLst/>
              <a:ahLst/>
              <a:cxnLst/>
              <a:rect l="l" t="t" r="r" b="b"/>
              <a:pathLst>
                <a:path w="647700" h="533400">
                  <a:moveTo>
                    <a:pt x="239386" y="166418"/>
                  </a:moveTo>
                  <a:lnTo>
                    <a:pt x="647700" y="166418"/>
                  </a:lnTo>
                  <a:lnTo>
                    <a:pt x="647700" y="366942"/>
                  </a:lnTo>
                  <a:lnTo>
                    <a:pt x="239373" y="366942"/>
                  </a:lnTo>
                  <a:lnTo>
                    <a:pt x="302255" y="533400"/>
                  </a:lnTo>
                  <a:lnTo>
                    <a:pt x="0" y="266700"/>
                  </a:lnTo>
                  <a:lnTo>
                    <a:pt x="302255" y="0"/>
                  </a:lnTo>
                  <a:lnTo>
                    <a:pt x="239386" y="166418"/>
                  </a:lnTo>
                  <a:close/>
                </a:path>
              </a:pathLst>
            </a:custGeom>
            <a:solidFill>
              <a:srgbClr val="4A44BD"/>
            </a:solidFill>
          </p:spPr>
        </p:sp>
        <p:sp>
          <p:nvSpPr>
            <p:cNvPr id="28" name="TextBox 11"/>
            <p:cNvSpPr txBox="1"/>
            <p:nvPr/>
          </p:nvSpPr>
          <p:spPr>
            <a:xfrm>
              <a:off x="120650" y="127000"/>
              <a:ext cx="527050" cy="241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9DD02547-CC78-B02A-B277-7CD1FABA28A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5001" y="4407590"/>
            <a:ext cx="13106400" cy="5103732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59942" y="9547355"/>
            <a:ext cx="17968116" cy="573730"/>
          </a:xfrm>
          <a:custGeom>
            <a:avLst/>
            <a:gdLst/>
            <a:ahLst/>
            <a:cxnLst/>
            <a:rect l="l" t="t" r="r" b="b"/>
            <a:pathLst>
              <a:path w="17968116" h="573730">
                <a:moveTo>
                  <a:pt x="0" y="0"/>
                </a:moveTo>
                <a:lnTo>
                  <a:pt x="17968116" y="0"/>
                </a:lnTo>
                <a:lnTo>
                  <a:pt x="17968116" y="573730"/>
                </a:lnTo>
                <a:lnTo>
                  <a:pt x="0" y="57373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5170" t="-31148" r="-1846" b="-15442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7476642" y="9635783"/>
            <a:ext cx="651416" cy="3590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4A44BD"/>
                </a:solidFill>
                <a:latin typeface="Noto Sans"/>
                <a:ea typeface="Noto Sans"/>
                <a:cs typeface="Noto Sans"/>
                <a:sym typeface="Noto Sans"/>
              </a:rPr>
              <a:t>13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312023" y="603451"/>
            <a:ext cx="16947277" cy="1212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917573" lvl="1" algn="l">
              <a:lnSpc>
                <a:spcPts val="9349"/>
              </a:lnSpc>
            </a:pPr>
            <a:r>
              <a:rPr lang="en-US" sz="8499" b="1" spc="-169">
                <a:solidFill>
                  <a:srgbClr val="4A44BD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12. Kết luận và hướng phát triển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221015" y="2060520"/>
            <a:ext cx="9866604" cy="679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sz="3999" b="1">
                <a:solidFill>
                  <a:srgbClr val="4A44BD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Kết luận</a:t>
            </a:r>
          </a:p>
        </p:txBody>
      </p:sp>
      <p:grpSp>
        <p:nvGrpSpPr>
          <p:cNvPr id="6" name="Group 6"/>
          <p:cNvGrpSpPr/>
          <p:nvPr/>
        </p:nvGrpSpPr>
        <p:grpSpPr>
          <a:xfrm rot="-10800000">
            <a:off x="1219200" y="3638558"/>
            <a:ext cx="548790" cy="451945"/>
            <a:chOff x="0" y="0"/>
            <a:chExt cx="647700" cy="5334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647700" cy="533400"/>
            </a:xfrm>
            <a:custGeom>
              <a:avLst/>
              <a:gdLst/>
              <a:ahLst/>
              <a:cxnLst/>
              <a:rect l="l" t="t" r="r" b="b"/>
              <a:pathLst>
                <a:path w="647700" h="533400">
                  <a:moveTo>
                    <a:pt x="239386" y="166418"/>
                  </a:moveTo>
                  <a:lnTo>
                    <a:pt x="647700" y="166418"/>
                  </a:lnTo>
                  <a:lnTo>
                    <a:pt x="647700" y="366942"/>
                  </a:lnTo>
                  <a:lnTo>
                    <a:pt x="239373" y="366942"/>
                  </a:lnTo>
                  <a:lnTo>
                    <a:pt x="302255" y="533400"/>
                  </a:lnTo>
                  <a:lnTo>
                    <a:pt x="0" y="266700"/>
                  </a:lnTo>
                  <a:lnTo>
                    <a:pt x="302255" y="0"/>
                  </a:lnTo>
                  <a:lnTo>
                    <a:pt x="239386" y="166418"/>
                  </a:lnTo>
                  <a:close/>
                </a:path>
              </a:pathLst>
            </a:custGeom>
            <a:solidFill>
              <a:srgbClr val="4A44BD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120650" y="127000"/>
              <a:ext cx="527050" cy="241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 rot="-10800000">
            <a:off x="1203810" y="4424260"/>
            <a:ext cx="548790" cy="451945"/>
            <a:chOff x="0" y="0"/>
            <a:chExt cx="647700" cy="5334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647700" cy="533400"/>
            </a:xfrm>
            <a:custGeom>
              <a:avLst/>
              <a:gdLst/>
              <a:ahLst/>
              <a:cxnLst/>
              <a:rect l="l" t="t" r="r" b="b"/>
              <a:pathLst>
                <a:path w="647700" h="533400">
                  <a:moveTo>
                    <a:pt x="239386" y="166418"/>
                  </a:moveTo>
                  <a:lnTo>
                    <a:pt x="647700" y="166418"/>
                  </a:lnTo>
                  <a:lnTo>
                    <a:pt x="647700" y="366942"/>
                  </a:lnTo>
                  <a:lnTo>
                    <a:pt x="239373" y="366942"/>
                  </a:lnTo>
                  <a:lnTo>
                    <a:pt x="302255" y="533400"/>
                  </a:lnTo>
                  <a:lnTo>
                    <a:pt x="0" y="266700"/>
                  </a:lnTo>
                  <a:lnTo>
                    <a:pt x="302255" y="0"/>
                  </a:lnTo>
                  <a:lnTo>
                    <a:pt x="239386" y="166418"/>
                  </a:lnTo>
                  <a:close/>
                </a:path>
              </a:pathLst>
            </a:custGeom>
            <a:solidFill>
              <a:srgbClr val="4A44BD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120650" y="127000"/>
              <a:ext cx="527050" cy="241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 rot="-10800000">
            <a:off x="1230842" y="7693224"/>
            <a:ext cx="548790" cy="451945"/>
            <a:chOff x="0" y="0"/>
            <a:chExt cx="647700" cy="5334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647700" cy="533400"/>
            </a:xfrm>
            <a:custGeom>
              <a:avLst/>
              <a:gdLst/>
              <a:ahLst/>
              <a:cxnLst/>
              <a:rect l="l" t="t" r="r" b="b"/>
              <a:pathLst>
                <a:path w="647700" h="533400">
                  <a:moveTo>
                    <a:pt x="239386" y="166418"/>
                  </a:moveTo>
                  <a:lnTo>
                    <a:pt x="647700" y="166418"/>
                  </a:lnTo>
                  <a:lnTo>
                    <a:pt x="647700" y="366942"/>
                  </a:lnTo>
                  <a:lnTo>
                    <a:pt x="239373" y="366942"/>
                  </a:lnTo>
                  <a:lnTo>
                    <a:pt x="302255" y="533400"/>
                  </a:lnTo>
                  <a:lnTo>
                    <a:pt x="0" y="266700"/>
                  </a:lnTo>
                  <a:lnTo>
                    <a:pt x="302255" y="0"/>
                  </a:lnTo>
                  <a:lnTo>
                    <a:pt x="239386" y="166418"/>
                  </a:lnTo>
                  <a:close/>
                </a:path>
              </a:pathLst>
            </a:custGeom>
            <a:solidFill>
              <a:srgbClr val="4A44BD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120650" y="127000"/>
              <a:ext cx="527050" cy="241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 rot="-10800000">
            <a:off x="1230842" y="8539060"/>
            <a:ext cx="548790" cy="451945"/>
            <a:chOff x="0" y="0"/>
            <a:chExt cx="647700" cy="5334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647700" cy="533400"/>
            </a:xfrm>
            <a:custGeom>
              <a:avLst/>
              <a:gdLst/>
              <a:ahLst/>
              <a:cxnLst/>
              <a:rect l="l" t="t" r="r" b="b"/>
              <a:pathLst>
                <a:path w="647700" h="533400">
                  <a:moveTo>
                    <a:pt x="239386" y="166418"/>
                  </a:moveTo>
                  <a:lnTo>
                    <a:pt x="647700" y="166418"/>
                  </a:lnTo>
                  <a:lnTo>
                    <a:pt x="647700" y="366942"/>
                  </a:lnTo>
                  <a:lnTo>
                    <a:pt x="239373" y="366942"/>
                  </a:lnTo>
                  <a:lnTo>
                    <a:pt x="302255" y="533400"/>
                  </a:lnTo>
                  <a:lnTo>
                    <a:pt x="0" y="266700"/>
                  </a:lnTo>
                  <a:lnTo>
                    <a:pt x="302255" y="0"/>
                  </a:lnTo>
                  <a:lnTo>
                    <a:pt x="239386" y="166418"/>
                  </a:lnTo>
                  <a:close/>
                </a:path>
              </a:pathLst>
            </a:custGeom>
            <a:solidFill>
              <a:srgbClr val="4A44BD"/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120650" y="127000"/>
              <a:ext cx="527050" cy="241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1847632" y="3510955"/>
            <a:ext cx="15129294" cy="7181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Xây dựng thành công website.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886564" y="4196755"/>
            <a:ext cx="17392036" cy="7181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Áp dụng hiệu quả quy trình công nghệ phần mềm.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182396" y="6670127"/>
            <a:ext cx="9866604" cy="679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sz="3999" b="1">
                <a:solidFill>
                  <a:srgbClr val="4A44BD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Hướng phát triển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886564" y="7549555"/>
            <a:ext cx="17392036" cy="7181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Hướng tới bổ sung tính năng gợi ý việc làm.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924232" y="8311555"/>
            <a:ext cx="16581335" cy="7181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Tích hợp hệ thống thông báo thời gian thực.</a:t>
            </a:r>
          </a:p>
        </p:txBody>
      </p:sp>
      <p:grpSp>
        <p:nvGrpSpPr>
          <p:cNvPr id="24" name="Group 9"/>
          <p:cNvGrpSpPr/>
          <p:nvPr/>
        </p:nvGrpSpPr>
        <p:grpSpPr>
          <a:xfrm rot="-10800000">
            <a:off x="1203810" y="5186260"/>
            <a:ext cx="548790" cy="451945"/>
            <a:chOff x="0" y="0"/>
            <a:chExt cx="647700" cy="533400"/>
          </a:xfrm>
        </p:grpSpPr>
        <p:sp>
          <p:nvSpPr>
            <p:cNvPr id="25" name="Freeform 10"/>
            <p:cNvSpPr/>
            <p:nvPr/>
          </p:nvSpPr>
          <p:spPr>
            <a:xfrm>
              <a:off x="0" y="0"/>
              <a:ext cx="647700" cy="533400"/>
            </a:xfrm>
            <a:custGeom>
              <a:avLst/>
              <a:gdLst/>
              <a:ahLst/>
              <a:cxnLst/>
              <a:rect l="l" t="t" r="r" b="b"/>
              <a:pathLst>
                <a:path w="647700" h="533400">
                  <a:moveTo>
                    <a:pt x="239386" y="166418"/>
                  </a:moveTo>
                  <a:lnTo>
                    <a:pt x="647700" y="166418"/>
                  </a:lnTo>
                  <a:lnTo>
                    <a:pt x="647700" y="366942"/>
                  </a:lnTo>
                  <a:lnTo>
                    <a:pt x="239373" y="366942"/>
                  </a:lnTo>
                  <a:lnTo>
                    <a:pt x="302255" y="533400"/>
                  </a:lnTo>
                  <a:lnTo>
                    <a:pt x="0" y="266700"/>
                  </a:lnTo>
                  <a:lnTo>
                    <a:pt x="302255" y="0"/>
                  </a:lnTo>
                  <a:lnTo>
                    <a:pt x="239386" y="166418"/>
                  </a:lnTo>
                  <a:close/>
                </a:path>
              </a:pathLst>
            </a:custGeom>
            <a:solidFill>
              <a:srgbClr val="4A44BD"/>
            </a:solidFill>
          </p:spPr>
        </p:sp>
        <p:sp>
          <p:nvSpPr>
            <p:cNvPr id="26" name="TextBox 11"/>
            <p:cNvSpPr txBox="1"/>
            <p:nvPr/>
          </p:nvSpPr>
          <p:spPr>
            <a:xfrm>
              <a:off x="120650" y="127000"/>
              <a:ext cx="527050" cy="241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sp>
        <p:nvSpPr>
          <p:cNvPr id="27" name="TextBox 19"/>
          <p:cNvSpPr txBox="1"/>
          <p:nvPr/>
        </p:nvSpPr>
        <p:spPr>
          <a:xfrm>
            <a:off x="1886564" y="4958755"/>
            <a:ext cx="17392036" cy="7181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Hoàn thiện đúng tiến độ cả 4 Sprint.</a:t>
            </a:r>
          </a:p>
        </p:txBody>
      </p:sp>
      <p:grpSp>
        <p:nvGrpSpPr>
          <p:cNvPr id="28" name="Group 9"/>
          <p:cNvGrpSpPr/>
          <p:nvPr/>
        </p:nvGrpSpPr>
        <p:grpSpPr>
          <a:xfrm rot="-10800000">
            <a:off x="1203810" y="5948260"/>
            <a:ext cx="548790" cy="451945"/>
            <a:chOff x="0" y="0"/>
            <a:chExt cx="647700" cy="533400"/>
          </a:xfrm>
        </p:grpSpPr>
        <p:sp>
          <p:nvSpPr>
            <p:cNvPr id="29" name="Freeform 10"/>
            <p:cNvSpPr/>
            <p:nvPr/>
          </p:nvSpPr>
          <p:spPr>
            <a:xfrm>
              <a:off x="0" y="0"/>
              <a:ext cx="647700" cy="533400"/>
            </a:xfrm>
            <a:custGeom>
              <a:avLst/>
              <a:gdLst/>
              <a:ahLst/>
              <a:cxnLst/>
              <a:rect l="l" t="t" r="r" b="b"/>
              <a:pathLst>
                <a:path w="647700" h="533400">
                  <a:moveTo>
                    <a:pt x="239386" y="166418"/>
                  </a:moveTo>
                  <a:lnTo>
                    <a:pt x="647700" y="166418"/>
                  </a:lnTo>
                  <a:lnTo>
                    <a:pt x="647700" y="366942"/>
                  </a:lnTo>
                  <a:lnTo>
                    <a:pt x="239373" y="366942"/>
                  </a:lnTo>
                  <a:lnTo>
                    <a:pt x="302255" y="533400"/>
                  </a:lnTo>
                  <a:lnTo>
                    <a:pt x="0" y="266700"/>
                  </a:lnTo>
                  <a:lnTo>
                    <a:pt x="302255" y="0"/>
                  </a:lnTo>
                  <a:lnTo>
                    <a:pt x="239386" y="166418"/>
                  </a:lnTo>
                  <a:close/>
                </a:path>
              </a:pathLst>
            </a:custGeom>
            <a:solidFill>
              <a:srgbClr val="4A44BD"/>
            </a:solidFill>
          </p:spPr>
        </p:sp>
        <p:sp>
          <p:nvSpPr>
            <p:cNvPr id="30" name="TextBox 11"/>
            <p:cNvSpPr txBox="1"/>
            <p:nvPr/>
          </p:nvSpPr>
          <p:spPr>
            <a:xfrm>
              <a:off x="120650" y="127000"/>
              <a:ext cx="527050" cy="241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sp>
        <p:nvSpPr>
          <p:cNvPr id="31" name="TextBox 19"/>
          <p:cNvSpPr txBox="1"/>
          <p:nvPr/>
        </p:nvSpPr>
        <p:spPr>
          <a:xfrm>
            <a:off x="1886564" y="5720755"/>
            <a:ext cx="17392036" cy="7181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Chưa tích hợp trí tuệ nhân tạo vào website.</a:t>
            </a:r>
          </a:p>
        </p:txBody>
      </p:sp>
      <p:grpSp>
        <p:nvGrpSpPr>
          <p:cNvPr id="32" name="Group 6"/>
          <p:cNvGrpSpPr/>
          <p:nvPr/>
        </p:nvGrpSpPr>
        <p:grpSpPr>
          <a:xfrm rot="-10800000">
            <a:off x="1219200" y="2908903"/>
            <a:ext cx="548790" cy="451945"/>
            <a:chOff x="0" y="0"/>
            <a:chExt cx="647700" cy="533400"/>
          </a:xfrm>
        </p:grpSpPr>
        <p:sp>
          <p:nvSpPr>
            <p:cNvPr id="33" name="Freeform 7"/>
            <p:cNvSpPr/>
            <p:nvPr/>
          </p:nvSpPr>
          <p:spPr>
            <a:xfrm>
              <a:off x="0" y="0"/>
              <a:ext cx="647700" cy="533400"/>
            </a:xfrm>
            <a:custGeom>
              <a:avLst/>
              <a:gdLst/>
              <a:ahLst/>
              <a:cxnLst/>
              <a:rect l="l" t="t" r="r" b="b"/>
              <a:pathLst>
                <a:path w="647700" h="533400">
                  <a:moveTo>
                    <a:pt x="239386" y="166418"/>
                  </a:moveTo>
                  <a:lnTo>
                    <a:pt x="647700" y="166418"/>
                  </a:lnTo>
                  <a:lnTo>
                    <a:pt x="647700" y="366942"/>
                  </a:lnTo>
                  <a:lnTo>
                    <a:pt x="239373" y="366942"/>
                  </a:lnTo>
                  <a:lnTo>
                    <a:pt x="302255" y="533400"/>
                  </a:lnTo>
                  <a:lnTo>
                    <a:pt x="0" y="266700"/>
                  </a:lnTo>
                  <a:lnTo>
                    <a:pt x="302255" y="0"/>
                  </a:lnTo>
                  <a:lnTo>
                    <a:pt x="239386" y="166418"/>
                  </a:lnTo>
                  <a:close/>
                </a:path>
              </a:pathLst>
            </a:custGeom>
            <a:solidFill>
              <a:srgbClr val="4A44BD"/>
            </a:solidFill>
          </p:spPr>
        </p:sp>
        <p:sp>
          <p:nvSpPr>
            <p:cNvPr id="34" name="TextBox 8"/>
            <p:cNvSpPr txBox="1"/>
            <p:nvPr/>
          </p:nvSpPr>
          <p:spPr>
            <a:xfrm>
              <a:off x="120650" y="127000"/>
              <a:ext cx="527050" cy="241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sp>
        <p:nvSpPr>
          <p:cNvPr id="35" name="TextBox 18"/>
          <p:cNvSpPr txBox="1"/>
          <p:nvPr/>
        </p:nvSpPr>
        <p:spPr>
          <a:xfrm>
            <a:off x="1847632" y="2781300"/>
            <a:ext cx="15129294" cy="7181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Giao diện đẹp và thân thiện.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59942" y="9547355"/>
            <a:ext cx="17968116" cy="573730"/>
          </a:xfrm>
          <a:custGeom>
            <a:avLst/>
            <a:gdLst/>
            <a:ahLst/>
            <a:cxnLst/>
            <a:rect l="l" t="t" r="r" b="b"/>
            <a:pathLst>
              <a:path w="17968116" h="573730">
                <a:moveTo>
                  <a:pt x="0" y="0"/>
                </a:moveTo>
                <a:lnTo>
                  <a:pt x="17968116" y="0"/>
                </a:lnTo>
                <a:lnTo>
                  <a:pt x="17968116" y="573730"/>
                </a:lnTo>
                <a:lnTo>
                  <a:pt x="0" y="57373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5170" t="-31148" r="-1846" b="-15442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7476642" y="9635783"/>
            <a:ext cx="651416" cy="3355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4A44BD"/>
                </a:solidFill>
                <a:latin typeface="Noto Sans"/>
                <a:ea typeface="Noto Sans"/>
                <a:cs typeface="Noto Sans"/>
                <a:sym typeface="Noto Sans"/>
              </a:rPr>
              <a:t>14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91289" y="3278982"/>
            <a:ext cx="16705421" cy="15665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1">
                <a:solidFill>
                  <a:srgbClr val="4A44BD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Cảm ơn thầy, cô đã lắng nghe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7191726"/>
            <a:ext cx="4655022" cy="771174"/>
            <a:chOff x="0" y="-28575"/>
            <a:chExt cx="6206697" cy="1028233"/>
          </a:xfrm>
        </p:grpSpPr>
        <p:sp>
          <p:nvSpPr>
            <p:cNvPr id="3" name="TextBox 3"/>
            <p:cNvSpPr txBox="1"/>
            <p:nvPr/>
          </p:nvSpPr>
          <p:spPr>
            <a:xfrm>
              <a:off x="0" y="384104"/>
              <a:ext cx="6206697" cy="61555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39"/>
                </a:lnSpc>
              </a:pPr>
              <a:r>
                <a:rPr lang="en-US" sz="2599" b="1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TS. Nguyễn Bảo Ân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6206697" cy="3333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100"/>
                </a:lnSpc>
              </a:pPr>
              <a:r>
                <a:rPr lang="en-US" sz="1500" spc="75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GIẢNG VIÊN HƯỚNG DẪN: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5881311" y="7124700"/>
            <a:ext cx="7225089" cy="1694504"/>
            <a:chOff x="0" y="-28575"/>
            <a:chExt cx="9633452" cy="2259340"/>
          </a:xfrm>
        </p:grpSpPr>
        <p:sp>
          <p:nvSpPr>
            <p:cNvPr id="6" name="TextBox 6"/>
            <p:cNvSpPr txBox="1"/>
            <p:nvPr/>
          </p:nvSpPr>
          <p:spPr>
            <a:xfrm>
              <a:off x="0" y="384104"/>
              <a:ext cx="9633452" cy="1846661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3639"/>
                </a:lnSpc>
              </a:pPr>
              <a:r>
                <a:rPr lang="en-US" sz="2400" b="1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Huỳnh Chí Đạt, MSSV: 110123086</a:t>
              </a:r>
            </a:p>
            <a:p>
              <a:pPr algn="l">
                <a:lnSpc>
                  <a:spcPts val="3639"/>
                </a:lnSpc>
              </a:pPr>
              <a:r>
                <a:rPr lang="en-US" sz="2400" b="1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Huỳnh Phan Vân Anh, MSSV: 110123065</a:t>
              </a:r>
            </a:p>
            <a:p>
              <a:pPr marL="0" lvl="0" indent="0" algn="l">
                <a:lnSpc>
                  <a:spcPts val="3639"/>
                </a:lnSpc>
              </a:pPr>
              <a:r>
                <a:rPr lang="en-US" sz="2400" b="1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Thạch Nguyễn Quế Anh, MSSV: 110123068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28575"/>
              <a:ext cx="8700505" cy="3333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100"/>
                </a:lnSpc>
                <a:spcBef>
                  <a:spcPct val="0"/>
                </a:spcBef>
              </a:pPr>
              <a:r>
                <a:rPr lang="en-US" sz="1500" spc="75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SINH VIÊN THỰC HIỆN:</a:t>
              </a:r>
            </a:p>
          </p:txBody>
        </p:sp>
      </p:grpSp>
      <p:sp>
        <p:nvSpPr>
          <p:cNvPr id="8" name="Freeform 8"/>
          <p:cNvSpPr/>
          <p:nvPr/>
        </p:nvSpPr>
        <p:spPr>
          <a:xfrm>
            <a:off x="8913253" y="2963300"/>
            <a:ext cx="9374747" cy="12269388"/>
          </a:xfrm>
          <a:custGeom>
            <a:avLst/>
            <a:gdLst/>
            <a:ahLst/>
            <a:cxnLst/>
            <a:rect l="l" t="t" r="r" b="b"/>
            <a:pathLst>
              <a:path w="9374747" h="12269388">
                <a:moveTo>
                  <a:pt x="0" y="0"/>
                </a:moveTo>
                <a:lnTo>
                  <a:pt x="9374747" y="0"/>
                </a:lnTo>
                <a:lnTo>
                  <a:pt x="9374747" y="12269388"/>
                </a:lnTo>
                <a:lnTo>
                  <a:pt x="0" y="1226938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r="-30877"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7961436" y="1425231"/>
            <a:ext cx="1903635" cy="1903635"/>
          </a:xfrm>
          <a:custGeom>
            <a:avLst/>
            <a:gdLst/>
            <a:ahLst/>
            <a:cxnLst/>
            <a:rect l="l" t="t" r="r" b="b"/>
            <a:pathLst>
              <a:path w="1903635" h="1903635">
                <a:moveTo>
                  <a:pt x="0" y="0"/>
                </a:moveTo>
                <a:lnTo>
                  <a:pt x="1903634" y="0"/>
                </a:lnTo>
                <a:lnTo>
                  <a:pt x="1903634" y="1903635"/>
                </a:lnTo>
                <a:lnTo>
                  <a:pt x="0" y="190363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3430029" y="3848100"/>
            <a:ext cx="11427941" cy="36167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6001" b="1">
                <a:solidFill>
                  <a:srgbClr val="4A44BD"/>
                </a:solidFill>
                <a:latin typeface="Be Vietnam Ultra-Bold"/>
                <a:ea typeface="Be Vietnam Ultra-Bold"/>
                <a:cs typeface="Be Vietnam Ultra-Bold"/>
              </a:rPr>
              <a:t>XÂY DỰNG WEBSITE QUẢN LÝ VÀ ĐĂNG TIN TUYỂN DỤNG</a:t>
            </a:r>
          </a:p>
          <a:p>
            <a:pPr marL="0" lvl="0" indent="0" algn="ctr">
              <a:lnSpc>
                <a:spcPts val="6601"/>
              </a:lnSpc>
            </a:pPr>
            <a:endParaRPr lang="en-US" sz="6001" b="1">
              <a:solidFill>
                <a:srgbClr val="4A44BD"/>
              </a:solidFill>
              <a:latin typeface="Be Vietnam Ultra-Bold"/>
              <a:ea typeface="Be Vietnam Ultra-Bold"/>
              <a:cs typeface="Be Vietnam Ultra-Bold"/>
              <a:sym typeface="Be Vietnam Ultra-Bold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6518417" y="334807"/>
            <a:ext cx="5251166" cy="850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19"/>
              </a:lnSpc>
            </a:pPr>
            <a:r>
              <a:rPr lang="en-US" sz="2199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TRƯỜNG KỸ THUẬT VÀ CÔNG NGHỆ</a:t>
            </a:r>
          </a:p>
          <a:p>
            <a:pPr marL="0" lvl="0" indent="0" algn="ctr">
              <a:lnSpc>
                <a:spcPts val="3519"/>
              </a:lnSpc>
              <a:spcBef>
                <a:spcPct val="0"/>
              </a:spcBef>
            </a:pPr>
            <a:r>
              <a:rPr lang="en-US" sz="2199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KHOA CÔNG NGHỆ THÔNG TIN</a:t>
            </a:r>
          </a:p>
        </p:txBody>
      </p:sp>
      <p:sp>
        <p:nvSpPr>
          <p:cNvPr id="12" name="Freeform 12"/>
          <p:cNvSpPr/>
          <p:nvPr/>
        </p:nvSpPr>
        <p:spPr>
          <a:xfrm>
            <a:off x="159942" y="9547355"/>
            <a:ext cx="17968116" cy="573730"/>
          </a:xfrm>
          <a:custGeom>
            <a:avLst/>
            <a:gdLst/>
            <a:ahLst/>
            <a:cxnLst/>
            <a:rect l="l" t="t" r="r" b="b"/>
            <a:pathLst>
              <a:path w="17968116" h="573730">
                <a:moveTo>
                  <a:pt x="0" y="0"/>
                </a:moveTo>
                <a:lnTo>
                  <a:pt x="17968116" y="0"/>
                </a:lnTo>
                <a:lnTo>
                  <a:pt x="17968116" y="573730"/>
                </a:lnTo>
                <a:lnTo>
                  <a:pt x="0" y="5737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5170" t="-31148" r="-1846" b="-15442"/>
            </a:stretch>
          </a:blipFill>
        </p:spPr>
      </p:sp>
    </p:spTree>
    <p:extLst>
      <p:ext uri="{BB962C8B-B14F-4D97-AF65-F5344CB8AC3E}">
        <p14:creationId xmlns:p14="http://schemas.microsoft.com/office/powerpoint/2010/main" val="31689537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232</TotalTime>
  <Words>939</Words>
  <Application>Microsoft Office PowerPoint</Application>
  <PresentationFormat>Custom</PresentationFormat>
  <Paragraphs>129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5" baseType="lpstr">
      <vt:lpstr>Noto Sans</vt:lpstr>
      <vt:lpstr>Arial</vt:lpstr>
      <vt:lpstr>Wingdings</vt:lpstr>
      <vt:lpstr>Open Sans Bold</vt:lpstr>
      <vt:lpstr>Calibri</vt:lpstr>
      <vt:lpstr>Times New Roman</vt:lpstr>
      <vt:lpstr>Open Sans</vt:lpstr>
      <vt:lpstr>Be Vietnam Ultra-Bold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TRƯỜNG KỸ THUẬT VÀ CÔNG NGHỆ KHOA CÔNG NGHỆ THÔNG TIN</dc:title>
  <cp:lastModifiedBy>DAT HUYNH</cp:lastModifiedBy>
  <cp:revision>29</cp:revision>
  <dcterms:created xsi:type="dcterms:W3CDTF">2006-08-16T00:00:00Z</dcterms:created>
  <dcterms:modified xsi:type="dcterms:W3CDTF">2026-08-24T13:32:37Z</dcterms:modified>
  <dc:identifier>DAHME21ga8Q</dc:identifier>
</cp:coreProperties>
</file>